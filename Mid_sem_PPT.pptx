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4"/>
  </p:sldMasterIdLst>
  <p:notesMasterIdLst>
    <p:notesMasterId r:id="rId23"/>
  </p:notesMasterIdLst>
  <p:sldIdLst>
    <p:sldId id="1079" r:id="rId5"/>
    <p:sldId id="1065" r:id="rId6"/>
    <p:sldId id="1114" r:id="rId7"/>
    <p:sldId id="1118" r:id="rId8"/>
    <p:sldId id="1119" r:id="rId9"/>
    <p:sldId id="1121" r:id="rId10"/>
    <p:sldId id="1122" r:id="rId11"/>
    <p:sldId id="1123" r:id="rId12"/>
    <p:sldId id="1125" r:id="rId13"/>
    <p:sldId id="1124" r:id="rId14"/>
    <p:sldId id="1127" r:id="rId15"/>
    <p:sldId id="1128" r:id="rId16"/>
    <p:sldId id="1133" r:id="rId17"/>
    <p:sldId id="1134" r:id="rId18"/>
    <p:sldId id="1126" r:id="rId19"/>
    <p:sldId id="1130" r:id="rId20"/>
    <p:sldId id="1131" r:id="rId21"/>
    <p:sldId id="113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0250F7-66ED-4421-9C1E-6EF493C7FEC6}">
          <p14:sldIdLst>
            <p14:sldId id="1079"/>
            <p14:sldId id="1065"/>
            <p14:sldId id="1114"/>
            <p14:sldId id="1118"/>
            <p14:sldId id="1119"/>
            <p14:sldId id="1121"/>
            <p14:sldId id="1122"/>
            <p14:sldId id="1123"/>
            <p14:sldId id="1125"/>
            <p14:sldId id="1124"/>
            <p14:sldId id="1127"/>
            <p14:sldId id="1128"/>
            <p14:sldId id="1133"/>
            <p14:sldId id="1134"/>
            <p14:sldId id="1126"/>
            <p14:sldId id="1130"/>
            <p14:sldId id="1131"/>
            <p14:sldId id="113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94689" autoAdjust="0"/>
  </p:normalViewPr>
  <p:slideViewPr>
    <p:cSldViewPr snapToGrid="0">
      <p:cViewPr varScale="1">
        <p:scale>
          <a:sx n="78" d="100"/>
          <a:sy n="78" d="100"/>
        </p:scale>
        <p:origin x="643"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755C2-5A74-494E-8BEA-71C357CAF10F}" type="datetimeFigureOut">
              <a:rPr lang="en-IN" smtClean="0"/>
              <a:pPr/>
              <a:t>18-03-2025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DEC57-2385-4CDC-A4DE-C9C271DE400B}" type="slidenum">
              <a:rPr lang="en-IN" smtClean="0"/>
              <a:pPr/>
              <a:t>‹#›</a:t>
            </a:fld>
            <a:endParaRPr lang="en-IN" dirty="0"/>
          </a:p>
        </p:txBody>
      </p:sp>
    </p:spTree>
    <p:extLst>
      <p:ext uri="{BB962C8B-B14F-4D97-AF65-F5344CB8AC3E}">
        <p14:creationId xmlns:p14="http://schemas.microsoft.com/office/powerpoint/2010/main" val="2917975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48CD36AA-5890-4FFD-BDEE-CD7E005E79A8}" type="slidenum">
              <a:rPr lang="en-US" smtClean="0"/>
              <a:pPr/>
              <a:t>2</a:t>
            </a:fld>
            <a:endParaRPr lang="en-US" dirty="0"/>
          </a:p>
        </p:txBody>
      </p:sp>
    </p:spTree>
    <p:extLst>
      <p:ext uri="{BB962C8B-B14F-4D97-AF65-F5344CB8AC3E}">
        <p14:creationId xmlns:p14="http://schemas.microsoft.com/office/powerpoint/2010/main" val="23991721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36012D8-7589-4D38-7974-A74E201AACE2}"/>
              </a:ext>
            </a:extLst>
          </p:cNvPr>
          <p:cNvCxnSpPr/>
          <p:nvPr userDrawn="1"/>
        </p:nvCxnSpPr>
        <p:spPr>
          <a:xfrm>
            <a:off x="0" y="1042992"/>
            <a:ext cx="12192000" cy="0"/>
          </a:xfrm>
          <a:prstGeom prst="line">
            <a:avLst/>
          </a:prstGeom>
          <a:ln w="57150">
            <a:solidFill>
              <a:srgbClr val="0070C0"/>
            </a:solidFill>
          </a:ln>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A927A404-03B7-8FE1-101F-C078D50748ED}"/>
              </a:ext>
            </a:extLst>
          </p:cNvPr>
          <p:cNvCxnSpPr/>
          <p:nvPr userDrawn="1"/>
        </p:nvCxnSpPr>
        <p:spPr>
          <a:xfrm>
            <a:off x="0" y="1042973"/>
            <a:ext cx="427196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13" name="Picture 12" descr="Logo, company name&#10;&#10;Description automatically generated">
            <a:extLst>
              <a:ext uri="{FF2B5EF4-FFF2-40B4-BE49-F238E27FC236}">
                <a16:creationId xmlns:a16="http://schemas.microsoft.com/office/drawing/2014/main" id="{F0AE447E-2C80-16CC-2536-0C15D67A1F5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414" t="26042" r="22859" b="28750"/>
          <a:stretch/>
        </p:blipFill>
        <p:spPr>
          <a:xfrm>
            <a:off x="116680" y="0"/>
            <a:ext cx="1212055" cy="1019441"/>
          </a:xfrm>
          <a:prstGeom prst="rect">
            <a:avLst/>
          </a:prstGeom>
        </p:spPr>
      </p:pic>
      <p:pic>
        <p:nvPicPr>
          <p:cNvPr id="14" name="Picture 7" descr="C:\Users\HOME\Downloads\cvmunic.png">
            <a:extLst>
              <a:ext uri="{FF2B5EF4-FFF2-40B4-BE49-F238E27FC236}">
                <a16:creationId xmlns:a16="http://schemas.microsoft.com/office/drawing/2014/main" id="{B38A5BEE-521B-0675-64CE-3F6868FEF66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22445" t="14345" r="19476" b="14359"/>
          <a:stretch/>
        </p:blipFill>
        <p:spPr bwMode="auto">
          <a:xfrm>
            <a:off x="11169508" y="13601"/>
            <a:ext cx="905812" cy="10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077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A1A9D-8237-4E61-94E3-1643280D1D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0910D7-DB61-40A6-8CD1-FF1168A11D0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680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F1C9-F683-4E5E-BA00-CCC7D8BCB13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319CFB-4041-46DD-899B-83AAAF10F3F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403851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9744-C5EB-4B58-BB83-FCB4B6EDEC5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C662A-B3F4-4676-B55A-5DE99958E011}"/>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3F1D08-FBB0-42B5-886D-68CD9EFA77C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1081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D29B-467A-40CC-8A8C-CF27FC7DF3B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1FF173-ABBE-4FA7-BF6C-E6C24D5F70A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1C3FBF-097B-4FCD-97B8-3AEDDDAED38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8F7D4A-709E-40F1-894E-09114D939E9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20DF54-C5D8-4EB8-9A02-34EC289BF48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04133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1B3C-312A-4708-9A8B-38ED634905D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46168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061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A0AD-573F-4F74-B240-134610708CC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44777E-405D-4937-BA2B-F171EC7471A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9347CC-7D6B-4201-9060-9C8F92E73E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357716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B800-ED14-4648-A266-598A0A7EBE0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578513-DCDF-4A6D-AED4-F930BE074E6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7A07F71F-1C9B-4B22-BED9-37E626F3FE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3219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870F-B0CD-4266-832A-0CF2D526C77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5C26B8-95CB-4BAC-BA93-87CEB0F63C3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34637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C723B3-B53A-4ADC-900C-2FE661C7DCD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62BD8C-8DC8-47E2-901E-6AFACD7252E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81304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5E6C59D-9DCB-6E47-7F47-DF3FE60B173E}"/>
              </a:ext>
            </a:extLst>
          </p:cNvPr>
          <p:cNvCxnSpPr/>
          <p:nvPr userDrawn="1"/>
        </p:nvCxnSpPr>
        <p:spPr>
          <a:xfrm>
            <a:off x="0" y="1042992"/>
            <a:ext cx="12192000" cy="0"/>
          </a:xfrm>
          <a:prstGeom prst="line">
            <a:avLst/>
          </a:prstGeom>
          <a:ln w="57150">
            <a:solidFill>
              <a:srgbClr val="0070C0"/>
            </a:solidFill>
          </a:ln>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10ADB168-2B67-2980-BA4E-CA69A2F7E66D}"/>
              </a:ext>
            </a:extLst>
          </p:cNvPr>
          <p:cNvCxnSpPr/>
          <p:nvPr userDrawn="1"/>
        </p:nvCxnSpPr>
        <p:spPr>
          <a:xfrm>
            <a:off x="0" y="1042973"/>
            <a:ext cx="427196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9" name="Picture 8" descr="Logo, company name&#10;&#10;Description automatically generated">
            <a:extLst>
              <a:ext uri="{FF2B5EF4-FFF2-40B4-BE49-F238E27FC236}">
                <a16:creationId xmlns:a16="http://schemas.microsoft.com/office/drawing/2014/main" id="{3864212A-B8F7-49F3-04AF-7A8BE2DB9789}"/>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23414" t="26042" r="22859" b="28750"/>
          <a:stretch/>
        </p:blipFill>
        <p:spPr>
          <a:xfrm>
            <a:off x="116680" y="0"/>
            <a:ext cx="1212055" cy="1019441"/>
          </a:xfrm>
          <a:prstGeom prst="rect">
            <a:avLst/>
          </a:prstGeom>
        </p:spPr>
      </p:pic>
      <p:pic>
        <p:nvPicPr>
          <p:cNvPr id="10" name="Picture 7" descr="C:\Users\HOME\Downloads\cvmunic.png">
            <a:extLst>
              <a:ext uri="{FF2B5EF4-FFF2-40B4-BE49-F238E27FC236}">
                <a16:creationId xmlns:a16="http://schemas.microsoft.com/office/drawing/2014/main" id="{197C3C50-956A-7002-0481-007071497341}"/>
              </a:ext>
            </a:extLst>
          </p:cNvPr>
          <p:cNvPicPr>
            <a:picLocks noChangeAspect="1" noChangeArrowheads="1"/>
          </p:cNvPicPr>
          <p:nvPr userDrawn="1"/>
        </p:nvPicPr>
        <p:blipFill rotWithShape="1">
          <a:blip r:embed="rId15">
            <a:extLst>
              <a:ext uri="{28A0092B-C50C-407E-A947-70E740481C1C}">
                <a14:useLocalDpi xmlns:a14="http://schemas.microsoft.com/office/drawing/2010/main" val="0"/>
              </a:ext>
            </a:extLst>
          </a:blip>
          <a:srcRect l="22445" t="14345" r="19476" b="14359"/>
          <a:stretch/>
        </p:blipFill>
        <p:spPr bwMode="auto">
          <a:xfrm>
            <a:off x="11169508" y="13601"/>
            <a:ext cx="905812" cy="10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7338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mongodb.com/docs/" TargetMode="External"/><Relationship Id="rId2" Type="http://schemas.openxmlformats.org/officeDocument/2006/relationships/hyperlink" Target="https://chatgpt.com/c/67a391b5-edac-800f-befb-47fbe3472055" TargetMode="External"/><Relationship Id="rId1" Type="http://schemas.openxmlformats.org/officeDocument/2006/relationships/slideLayout" Target="../slideLayouts/slideLayout1.xml"/><Relationship Id="rId6" Type="http://schemas.openxmlformats.org/officeDocument/2006/relationships/hyperlink" Target="https://nodejs.org/docs/latest/api/" TargetMode="External"/><Relationship Id="rId5" Type="http://schemas.openxmlformats.org/officeDocument/2006/relationships/hyperlink" Target="https://react.dev/learn" TargetMode="External"/><Relationship Id="rId4" Type="http://schemas.openxmlformats.org/officeDocument/2006/relationships/hyperlink" Target="https://expressjs.com/en/guide/routing.html"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AA398FDA-FF22-4A4C-BBB6-949867B314D7}"/>
              </a:ext>
            </a:extLst>
          </p:cNvPr>
          <p:cNvSpPr txBox="1">
            <a:spLocks noChangeArrowheads="1"/>
          </p:cNvSpPr>
          <p:nvPr/>
        </p:nvSpPr>
        <p:spPr bwMode="auto">
          <a:xfrm>
            <a:off x="2554356" y="3445669"/>
            <a:ext cx="6579705" cy="249299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sz="2800" b="1" dirty="0">
              <a:solidFill>
                <a:srgbClr val="C00000"/>
              </a:solidFill>
              <a:latin typeface="+mn-lt"/>
            </a:endParaRPr>
          </a:p>
          <a:p>
            <a:pPr algn="ctr"/>
            <a:r>
              <a:rPr lang="en-US" altLang="en-US" sz="2800" b="1" dirty="0">
                <a:solidFill>
                  <a:srgbClr val="C00000"/>
                </a:solidFill>
                <a:latin typeface="+mn-lt"/>
              </a:rPr>
              <a:t>Nishil Shah (12202130501045)</a:t>
            </a:r>
          </a:p>
          <a:p>
            <a:pPr algn="ctr"/>
            <a:r>
              <a:rPr lang="en-US" altLang="en-US" sz="2800" b="1" dirty="0">
                <a:solidFill>
                  <a:srgbClr val="C00000"/>
                </a:solidFill>
                <a:latin typeface="+mn-lt"/>
              </a:rPr>
              <a:t>Parth Patel (12202130501049)</a:t>
            </a:r>
            <a:endParaRPr lang="en-US" altLang="en-US" sz="2400" b="1" dirty="0">
              <a:solidFill>
                <a:srgbClr val="C00000"/>
              </a:solidFill>
              <a:latin typeface="+mn-lt"/>
            </a:endParaRPr>
          </a:p>
          <a:p>
            <a:pPr algn="ctr" eaLnBrk="1" hangingPunct="1"/>
            <a:endParaRPr lang="en-US" altLang="en-US" sz="2400" b="1" dirty="0">
              <a:solidFill>
                <a:srgbClr val="C00000"/>
              </a:solidFill>
              <a:latin typeface="+mn-lt"/>
            </a:endParaRPr>
          </a:p>
          <a:p>
            <a:pPr algn="ctr" eaLnBrk="1" hangingPunct="1"/>
            <a:r>
              <a:rPr lang="en-US" altLang="en-US" sz="2400" b="1" dirty="0">
                <a:solidFill>
                  <a:srgbClr val="C00000"/>
                </a:solidFill>
                <a:latin typeface="+mn-lt"/>
              </a:rPr>
              <a:t>		</a:t>
            </a:r>
            <a:r>
              <a:rPr lang="en-US" altLang="en-US" b="1" dirty="0">
                <a:solidFill>
                  <a:srgbClr val="C00000"/>
                </a:solidFill>
                <a:latin typeface="+mn-lt"/>
              </a:rPr>
              <a:t>Guided By : Prof. Vraj </a:t>
            </a:r>
            <a:r>
              <a:rPr lang="en-US" altLang="en-US" b="1" dirty="0" err="1">
                <a:solidFill>
                  <a:srgbClr val="C00000"/>
                </a:solidFill>
                <a:latin typeface="+mn-lt"/>
              </a:rPr>
              <a:t>Hingu</a:t>
            </a:r>
            <a:endParaRPr lang="en-US" altLang="en-US" b="1" dirty="0">
              <a:solidFill>
                <a:srgbClr val="C00000"/>
              </a:solidFill>
              <a:latin typeface="+mn-lt"/>
            </a:endParaRPr>
          </a:p>
          <a:p>
            <a:pPr algn="ctr" eaLnBrk="1" hangingPunct="1"/>
            <a:endParaRPr lang="en-US" altLang="en-US" sz="2400" b="1" dirty="0">
              <a:solidFill>
                <a:srgbClr val="C00000"/>
              </a:solidFill>
              <a:latin typeface="+mn-lt"/>
            </a:endParaRPr>
          </a:p>
        </p:txBody>
      </p:sp>
      <p:sp>
        <p:nvSpPr>
          <p:cNvPr id="6" name="Rectangle 5">
            <a:extLst>
              <a:ext uri="{FF2B5EF4-FFF2-40B4-BE49-F238E27FC236}">
                <a16:creationId xmlns:a16="http://schemas.microsoft.com/office/drawing/2014/main" id="{1872C3D3-9FFD-42B2-3614-D03A1DCC7FDA}"/>
              </a:ext>
            </a:extLst>
          </p:cNvPr>
          <p:cNvSpPr/>
          <p:nvPr/>
        </p:nvSpPr>
        <p:spPr>
          <a:xfrm>
            <a:off x="1799166" y="296526"/>
            <a:ext cx="8763000" cy="461665"/>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a:spAutoFit/>
          </a:bodyPr>
          <a:lstStyle/>
          <a:p>
            <a:pPr algn="ctr">
              <a:defRPr/>
            </a:pPr>
            <a:r>
              <a:rPr lang="en-US" sz="2400" b="1" dirty="0">
                <a:solidFill>
                  <a:srgbClr val="000000"/>
                </a:solidFill>
                <a:ea typeface="Cambria" panose="02040503050406030204" pitchFamily="18" charset="0"/>
              </a:rPr>
              <a:t>MINI PROJECT - 202040601</a:t>
            </a:r>
            <a:endParaRPr lang="en-US" sz="2400" dirty="0">
              <a:ea typeface="Cambria" panose="02040503050406030204" pitchFamily="18" charset="0"/>
            </a:endParaRPr>
          </a:p>
        </p:txBody>
      </p:sp>
      <p:sp>
        <p:nvSpPr>
          <p:cNvPr id="12" name="Rectangle 11">
            <a:extLst>
              <a:ext uri="{FF2B5EF4-FFF2-40B4-BE49-F238E27FC236}">
                <a16:creationId xmlns:a16="http://schemas.microsoft.com/office/drawing/2014/main" id="{9788D20D-7CD9-97D4-F8F6-A9BB85CDB460}"/>
              </a:ext>
            </a:extLst>
          </p:cNvPr>
          <p:cNvSpPr/>
          <p:nvPr/>
        </p:nvSpPr>
        <p:spPr>
          <a:xfrm>
            <a:off x="0" y="1718629"/>
            <a:ext cx="12191999" cy="584775"/>
          </a:xfrm>
          <a:prstGeom prst="rect">
            <a:avLst/>
          </a:prstGeom>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IN" sz="3200" b="1" i="0" dirty="0" err="1">
                <a:solidFill>
                  <a:srgbClr val="F1F1F1"/>
                </a:solidFill>
                <a:effectLst/>
                <a:latin typeface="Roboto" panose="02000000000000000000" pitchFamily="2" charset="0"/>
              </a:rPr>
              <a:t>MedInventory</a:t>
            </a:r>
            <a:r>
              <a:rPr lang="en-IN" sz="3200" b="1" i="0" dirty="0">
                <a:solidFill>
                  <a:srgbClr val="F1F1F1"/>
                </a:solidFill>
                <a:effectLst/>
                <a:latin typeface="Roboto" panose="02000000000000000000" pitchFamily="2" charset="0"/>
              </a:rPr>
              <a:t> – Medical Inventory System </a:t>
            </a:r>
          </a:p>
        </p:txBody>
      </p:sp>
    </p:spTree>
    <p:extLst>
      <p:ext uri="{BB962C8B-B14F-4D97-AF65-F5344CB8AC3E}">
        <p14:creationId xmlns:p14="http://schemas.microsoft.com/office/powerpoint/2010/main" val="3329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DE9EE-A56C-2E47-6F4C-B07D12682662}"/>
              </a:ext>
            </a:extLst>
          </p:cNvPr>
          <p:cNvSpPr txBox="1"/>
          <p:nvPr/>
        </p:nvSpPr>
        <p:spPr>
          <a:xfrm>
            <a:off x="1446415" y="317504"/>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Introduction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4" name="Slide Number Placeholder 4">
            <a:extLst>
              <a:ext uri="{FF2B5EF4-FFF2-40B4-BE49-F238E27FC236}">
                <a16:creationId xmlns:a16="http://schemas.microsoft.com/office/drawing/2014/main" id="{AE1D80BE-1195-2280-FD23-499F37E1841E}"/>
              </a:ext>
            </a:extLst>
          </p:cNvPr>
          <p:cNvSpPr txBox="1">
            <a:spLocks/>
          </p:cNvSpPr>
          <p:nvPr/>
        </p:nvSpPr>
        <p:spPr>
          <a:xfrm>
            <a:off x="9448800" y="6492875"/>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11CD339-B85C-4566-9308-7266C226315D}" type="slidenum">
              <a:rPr lang="en-US" smtClean="0">
                <a:solidFill>
                  <a:schemeClr val="tx1"/>
                </a:solidFill>
              </a:rPr>
              <a:pPr>
                <a:spcAft>
                  <a:spcPts val="600"/>
                </a:spcAft>
              </a:pPr>
              <a:t>2</a:t>
            </a:fld>
            <a:endParaRPr lang="en-US" dirty="0">
              <a:solidFill>
                <a:schemeClr val="tx1"/>
              </a:solidFill>
            </a:endParaRPr>
          </a:p>
        </p:txBody>
      </p:sp>
      <p:sp>
        <p:nvSpPr>
          <p:cNvPr id="2" name="TextBox 1">
            <a:extLst>
              <a:ext uri="{FF2B5EF4-FFF2-40B4-BE49-F238E27FC236}">
                <a16:creationId xmlns:a16="http://schemas.microsoft.com/office/drawing/2014/main" id="{41966F37-0D75-A91F-653B-50D0E1C6B7E4}"/>
              </a:ext>
            </a:extLst>
          </p:cNvPr>
          <p:cNvSpPr txBox="1"/>
          <p:nvPr/>
        </p:nvSpPr>
        <p:spPr>
          <a:xfrm>
            <a:off x="155864" y="1646849"/>
            <a:ext cx="11880271" cy="3600986"/>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i="1" dirty="0">
                <a:effectLst/>
                <a:latin typeface="__fkGroteskNeue_598ab8"/>
              </a:rPr>
              <a:t>Problem Statement</a:t>
            </a:r>
          </a:p>
          <a:p>
            <a:pPr algn="just"/>
            <a:endParaRPr lang="en-US" sz="2400" b="1" i="1" dirty="0">
              <a:effectLst/>
              <a:latin typeface="__fkGroteskNeue_598ab8"/>
            </a:endParaRPr>
          </a:p>
          <a:p>
            <a:pPr marL="742950" lvl="1" indent="-285750" algn="just">
              <a:buFont typeface="Arial" panose="020B0604020202020204" pitchFamily="34" charset="0"/>
              <a:buChar char="•"/>
            </a:pPr>
            <a:r>
              <a:rPr lang="en-US" dirty="0"/>
              <a:t>In today's healthcare facilities and pharmacies, managing medical inventory efficiently remains a critical challenge that directly impacts patient care and business operations. Traditional manual methods of tracking medical supplies, monitoring expiration dates, and maintaining optimal stock levels are prone to errors, time-consuming, and often result in significant financial losses. Healthcare providers struggle with stockouts of essential medicines, expired inventory, and inefficient resource allocation, which can compromise patient care quality and safety.</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en-US" dirty="0"/>
              <a:t>Currently, staff members spend considerable time on manual inventory counts, paperwork, and tracking expiration dates without real-time visibility into stock levels. This leads to emergency purchases at premium prices, wastage due to expired medications, and potential risks of distributing expired products to patients. The lack of automated alerts for low stock and near-expiry items forces reactive rather than proactive inventory management.</a:t>
            </a:r>
          </a:p>
        </p:txBody>
      </p:sp>
    </p:spTree>
    <p:extLst>
      <p:ext uri="{BB962C8B-B14F-4D97-AF65-F5344CB8AC3E}">
        <p14:creationId xmlns:p14="http://schemas.microsoft.com/office/powerpoint/2010/main" val="54431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04EEFD-D9F1-62B1-D5EB-CF6FD100B098}"/>
              </a:ext>
            </a:extLst>
          </p:cNvPr>
          <p:cNvSpPr txBox="1"/>
          <p:nvPr/>
        </p:nvSpPr>
        <p:spPr>
          <a:xfrm>
            <a:off x="0" y="1183095"/>
            <a:ext cx="12038029" cy="5724644"/>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i="1" dirty="0">
                <a:effectLst/>
                <a:latin typeface="__fkGroteskNeue_598ab8"/>
              </a:rPr>
              <a:t>Problem </a:t>
            </a:r>
            <a:r>
              <a:rPr lang="en-US" sz="2400" b="1" i="1" dirty="0">
                <a:latin typeface="__fkGroteskNeue_598ab8"/>
              </a:rPr>
              <a:t>Objective </a:t>
            </a:r>
          </a:p>
          <a:p>
            <a:endParaRPr lang="en-US" dirty="0"/>
          </a:p>
          <a:p>
            <a:pPr marL="800100" lvl="1" indent="-342900" eaLnBrk="0" fontAlgn="base" hangingPunct="0">
              <a:lnSpc>
                <a:spcPct val="150000"/>
              </a:lnSpc>
              <a:spcBef>
                <a:spcPct val="0"/>
              </a:spcBef>
              <a:spcAft>
                <a:spcPct val="0"/>
              </a:spcAft>
              <a:buFont typeface="Wingdings" panose="05000000000000000000" pitchFamily="2" charset="2"/>
              <a:buChar char="§"/>
            </a:pPr>
            <a:r>
              <a:rPr kumimoji="0" lang="en-US" altLang="en-US" b="1" i="0" u="none" strike="noStrike" cap="none" normalizeH="0" baseline="0" dirty="0">
                <a:ln>
                  <a:noFill/>
                </a:ln>
                <a:solidFill>
                  <a:schemeClr val="tx1"/>
                </a:solidFill>
                <a:effectLst/>
              </a:rPr>
              <a:t>Inventory Management: </a:t>
            </a:r>
            <a:r>
              <a:rPr kumimoji="0" lang="en-US" altLang="en-US" i="0" u="none" strike="noStrike" cap="none" normalizeH="0" baseline="0" dirty="0">
                <a:ln>
                  <a:noFill/>
                </a:ln>
                <a:solidFill>
                  <a:schemeClr val="tx1"/>
                </a:solidFill>
                <a:effectLst/>
              </a:rPr>
              <a:t>Create a real-time medical inventory tracking system with automated alerts for low stock and expiring items.</a:t>
            </a:r>
            <a:endParaRPr kumimoji="0" lang="en-US" altLang="en-US"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Wingdings" panose="05000000000000000000" pitchFamily="2" charset="2"/>
              <a:buChar char="§"/>
            </a:pPr>
            <a:r>
              <a:rPr kumimoji="0" lang="en-US" altLang="en-US" b="1" i="0" u="none" strike="noStrike" cap="none" normalizeH="0" baseline="0" dirty="0">
                <a:ln>
                  <a:noFill/>
                </a:ln>
                <a:solidFill>
                  <a:schemeClr val="tx1"/>
                </a:solidFill>
                <a:effectLst/>
              </a:rPr>
              <a:t>Digital Transformation: </a:t>
            </a:r>
            <a:r>
              <a:rPr kumimoji="0" lang="en-US" altLang="en-US" i="0" u="none" strike="noStrike" cap="none" normalizeH="0" baseline="0" dirty="0">
                <a:ln>
                  <a:noFill/>
                </a:ln>
                <a:solidFill>
                  <a:schemeClr val="tx1"/>
                </a:solidFill>
                <a:effectLst/>
              </a:rPr>
              <a:t>Digitize manual inventory processes to reduce errors, save time, and improve efficiency in healthcare facilities.</a:t>
            </a:r>
            <a:endParaRPr kumimoji="0" lang="en-US" altLang="en-US"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Wingdings" panose="05000000000000000000" pitchFamily="2" charset="2"/>
              <a:buChar char="§"/>
            </a:pPr>
            <a:r>
              <a:rPr kumimoji="0" lang="en-US" altLang="en-US" b="1" i="0" u="none" strike="noStrike" cap="none" normalizeH="0" baseline="0" dirty="0">
                <a:ln>
                  <a:noFill/>
                </a:ln>
                <a:solidFill>
                  <a:schemeClr val="tx1"/>
                </a:solidFill>
                <a:effectLst/>
              </a:rPr>
              <a:t>Quality Control: </a:t>
            </a:r>
            <a:r>
              <a:rPr kumimoji="0" lang="en-US" altLang="en-US" i="0" u="none" strike="noStrike" cap="none" normalizeH="0" baseline="0" dirty="0">
                <a:ln>
                  <a:noFill/>
                </a:ln>
                <a:solidFill>
                  <a:schemeClr val="tx1"/>
                </a:solidFill>
                <a:effectLst/>
              </a:rPr>
              <a:t>Ensure patient safety by monitoring expiration dates and maintaining proper stock levels of medical supplies.</a:t>
            </a:r>
            <a:endParaRPr kumimoji="0" lang="en-US" altLang="en-US"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Wingdings" panose="05000000000000000000" pitchFamily="2" charset="2"/>
              <a:buChar char="§"/>
            </a:pPr>
            <a:r>
              <a:rPr kumimoji="0" lang="en-US" altLang="en-US" b="1" i="0" u="none" strike="noStrike" cap="none" normalizeH="0" baseline="0" dirty="0">
                <a:ln>
                  <a:noFill/>
                </a:ln>
                <a:solidFill>
                  <a:schemeClr val="tx1"/>
                </a:solidFill>
                <a:effectLst/>
              </a:rPr>
              <a:t>Data Analytics: </a:t>
            </a:r>
            <a:r>
              <a:rPr kumimoji="0" lang="en-US" altLang="en-US" i="0" u="none" strike="noStrike" cap="none" normalizeH="0" baseline="0" dirty="0">
                <a:ln>
                  <a:noFill/>
                </a:ln>
                <a:solidFill>
                  <a:schemeClr val="tx1"/>
                </a:solidFill>
                <a:effectLst/>
              </a:rPr>
              <a:t>Provide insights through dashboards, reports, and analytics for better inventory decision-making.</a:t>
            </a:r>
            <a:endParaRPr kumimoji="0" lang="en-US" altLang="en-US"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Wingdings" panose="05000000000000000000" pitchFamily="2" charset="2"/>
              <a:buChar char="§"/>
            </a:pPr>
            <a:r>
              <a:rPr kumimoji="0" lang="en-US" altLang="en-US" b="1" i="0" u="none" strike="noStrike" cap="none" normalizeH="0" baseline="0" dirty="0">
                <a:ln>
                  <a:noFill/>
                </a:ln>
                <a:solidFill>
                  <a:schemeClr val="tx1"/>
                </a:solidFill>
                <a:effectLst/>
              </a:rPr>
              <a:t>User Experience</a:t>
            </a:r>
            <a:r>
              <a:rPr kumimoji="0" lang="en-US" altLang="en-US" i="0" u="none" strike="noStrike" cap="none" normalizeH="0" baseline="0" dirty="0">
                <a:ln>
                  <a:noFill/>
                </a:ln>
                <a:solidFill>
                  <a:schemeClr val="tx1"/>
                </a:solidFill>
                <a:effectLst/>
              </a:rPr>
              <a:t>: Deliver an intuitive interface for healthcare staff to manage inventory with minimal training</a:t>
            </a:r>
            <a:r>
              <a:rPr kumimoji="0" lang="en-US" altLang="en-US" b="1"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indent="-342900" algn="just">
              <a:buFont typeface="+mj-lt"/>
              <a:buAutoNum type="arabicParen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indent="-342900" algn="just">
              <a:buFont typeface="+mj-lt"/>
              <a:buAutoNum type="arabicParen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a:buNone/>
            </a:pPr>
            <a:endParaRPr lang="en-US" dirty="0"/>
          </a:p>
          <a:p>
            <a:pPr marL="1714500" lvl="3" indent="-342900" algn="just">
              <a:buFont typeface="+mj-lt"/>
              <a:buAutoNum type="arabicPeriod"/>
            </a:pPr>
            <a:endParaRPr lang="en-US" dirty="0"/>
          </a:p>
          <a:p>
            <a:pPr marL="1714500" lvl="3" indent="-342900" algn="just">
              <a:buFont typeface="+mj-lt"/>
              <a:buAutoNum type="arabicPeriod"/>
            </a:pPr>
            <a:endParaRPr lang="en-US" dirty="0"/>
          </a:p>
          <a:p>
            <a:pPr marL="1714500" lvl="3" indent="-342900" algn="just">
              <a:buFont typeface="+mj-lt"/>
              <a:buAutoNum type="arabicPeriod"/>
            </a:pPr>
            <a:endParaRPr lang="en-US" dirty="0"/>
          </a:p>
        </p:txBody>
      </p:sp>
      <p:sp>
        <p:nvSpPr>
          <p:cNvPr id="3" name="TextBox 2">
            <a:extLst>
              <a:ext uri="{FF2B5EF4-FFF2-40B4-BE49-F238E27FC236}">
                <a16:creationId xmlns:a16="http://schemas.microsoft.com/office/drawing/2014/main" id="{A49E537D-07A1-0A70-89A3-E8474A65771C}"/>
              </a:ext>
            </a:extLst>
          </p:cNvPr>
          <p:cNvSpPr txBox="1"/>
          <p:nvPr/>
        </p:nvSpPr>
        <p:spPr>
          <a:xfrm>
            <a:off x="1446415" y="317504"/>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Introduction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09580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43A47F-68C3-3CDE-F71D-E06F9A81AE74}"/>
              </a:ext>
            </a:extLst>
          </p:cNvPr>
          <p:cNvSpPr txBox="1"/>
          <p:nvPr/>
        </p:nvSpPr>
        <p:spPr>
          <a:xfrm>
            <a:off x="1446415" y="327336"/>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Literature Review</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3" name="TextBox 2">
            <a:extLst>
              <a:ext uri="{FF2B5EF4-FFF2-40B4-BE49-F238E27FC236}">
                <a16:creationId xmlns:a16="http://schemas.microsoft.com/office/drawing/2014/main" id="{61EC885C-D533-0C10-10E7-1B3EAACBC9DE}"/>
              </a:ext>
            </a:extLst>
          </p:cNvPr>
          <p:cNvSpPr txBox="1"/>
          <p:nvPr/>
        </p:nvSpPr>
        <p:spPr>
          <a:xfrm>
            <a:off x="294967" y="1318022"/>
            <a:ext cx="11602065" cy="646331"/>
          </a:xfrm>
          <a:prstGeom prst="rect">
            <a:avLst/>
          </a:prstGeom>
          <a:noFill/>
        </p:spPr>
        <p:txBody>
          <a:bodyPr wrap="square" rtlCol="0">
            <a:spAutoFit/>
          </a:bodyPr>
          <a:lstStyle/>
          <a:p>
            <a:pPr marL="342900" indent="-342900">
              <a:buFont typeface="+mj-lt"/>
              <a:buAutoNum type="arabicPeriod"/>
            </a:pPr>
            <a:endParaRPr lang="en-IN" dirty="0"/>
          </a:p>
          <a:p>
            <a:endParaRPr lang="en-US" dirty="0"/>
          </a:p>
        </p:txBody>
      </p:sp>
      <p:sp>
        <p:nvSpPr>
          <p:cNvPr id="12" name="Rectangle 9">
            <a:extLst>
              <a:ext uri="{FF2B5EF4-FFF2-40B4-BE49-F238E27FC236}">
                <a16:creationId xmlns:a16="http://schemas.microsoft.com/office/drawing/2014/main" id="{91E38709-870B-5FDE-5E19-0C6F52BCE300}"/>
              </a:ext>
            </a:extLst>
          </p:cNvPr>
          <p:cNvSpPr>
            <a:spLocks noChangeArrowheads="1"/>
          </p:cNvSpPr>
          <p:nvPr/>
        </p:nvSpPr>
        <p:spPr bwMode="auto">
          <a:xfrm>
            <a:off x="393538" y="1159392"/>
            <a:ext cx="11053823"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rPr>
              <a:t>Related Work</a:t>
            </a:r>
            <a:endParaRPr kumimoji="0" lang="en-US" altLang="en-US" b="1" i="0" u="none" strike="noStrike" cap="none" normalizeH="0" baseline="0" dirty="0">
              <a:ln>
                <a:noFill/>
              </a:ln>
              <a:solidFill>
                <a:schemeClr val="tx1"/>
              </a:solidFill>
              <a:effectLst/>
            </a:endParaRPr>
          </a:p>
          <a:p>
            <a:pPr marL="800100" lvl="1" indent="-342900" eaLnBrk="0" fontAlgn="base" hangingPunct="0">
              <a:lnSpc>
                <a:spcPct val="150000"/>
              </a:lnSpc>
              <a:spcBef>
                <a:spcPct val="0"/>
              </a:spcBef>
              <a:spcAft>
                <a:spcPct val="0"/>
              </a:spcAft>
              <a:buFont typeface="+mj-lt"/>
              <a:buAutoNum type="arabicPeriod"/>
            </a:pPr>
            <a:r>
              <a:rPr kumimoji="0" lang="en-US" altLang="en-US" b="1" i="0" u="none" strike="noStrike" cap="none" normalizeH="0" baseline="0" dirty="0">
                <a:ln>
                  <a:noFill/>
                </a:ln>
                <a:solidFill>
                  <a:schemeClr val="tx1"/>
                </a:solidFill>
                <a:effectLst/>
              </a:rPr>
              <a:t>Traditional Systems</a:t>
            </a:r>
          </a:p>
          <a:p>
            <a:pPr marL="1257300" lvl="2"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Manual record keeping</a:t>
            </a:r>
          </a:p>
          <a:p>
            <a:pPr marL="1257300" lvl="2"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Paper-based inventory tracking</a:t>
            </a:r>
          </a:p>
          <a:p>
            <a:pPr marL="1257300" lvl="2"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High error rates and inefficiencies</a:t>
            </a:r>
          </a:p>
          <a:p>
            <a:pPr marL="1257300" lvl="2"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Limited real-time visibility</a:t>
            </a:r>
          </a:p>
          <a:p>
            <a:pPr marL="800100" lvl="1" indent="-342900" eaLnBrk="0" fontAlgn="base" hangingPunct="0">
              <a:lnSpc>
                <a:spcPct val="150000"/>
              </a:lnSpc>
              <a:spcBef>
                <a:spcPct val="0"/>
              </a:spcBef>
              <a:spcAft>
                <a:spcPct val="0"/>
              </a:spcAft>
              <a:buFont typeface="+mj-lt"/>
              <a:buAutoNum type="arabicPeriod"/>
            </a:pPr>
            <a:r>
              <a:rPr lang="en-US" altLang="en-US" dirty="0"/>
              <a:t> </a:t>
            </a:r>
            <a:r>
              <a:rPr lang="en-US" altLang="en-US" b="1" dirty="0"/>
              <a:t>Digital Transformation</a:t>
            </a:r>
          </a:p>
          <a:p>
            <a:pPr marL="1257300" lvl="2" indent="-342900" eaLnBrk="0" fontAlgn="base" hangingPunct="0">
              <a:spcBef>
                <a:spcPct val="0"/>
              </a:spcBef>
              <a:spcAft>
                <a:spcPct val="0"/>
              </a:spcAft>
              <a:buFont typeface="Arial" panose="020B0604020202020204" pitchFamily="34" charset="0"/>
              <a:buChar char="•"/>
            </a:pPr>
            <a:r>
              <a:rPr lang="en-US" altLang="en-US" dirty="0"/>
              <a:t>Computerized systems (1990s-2000s)</a:t>
            </a:r>
          </a:p>
          <a:p>
            <a:pPr marL="1257300" lvl="2" indent="-342900" eaLnBrk="0" fontAlgn="base" hangingPunct="0">
              <a:spcBef>
                <a:spcPct val="0"/>
              </a:spcBef>
              <a:spcAft>
                <a:spcPct val="0"/>
              </a:spcAft>
              <a:buFont typeface="Arial" panose="020B0604020202020204" pitchFamily="34" charset="0"/>
              <a:buChar char="•"/>
            </a:pPr>
            <a:r>
              <a:rPr lang="en-US" altLang="en-US" dirty="0"/>
              <a:t>Early database management systems</a:t>
            </a:r>
          </a:p>
          <a:p>
            <a:pPr marL="1257300" lvl="2" indent="-342900" eaLnBrk="0" fontAlgn="base" hangingPunct="0">
              <a:spcBef>
                <a:spcPct val="0"/>
              </a:spcBef>
              <a:spcAft>
                <a:spcPct val="0"/>
              </a:spcAft>
              <a:buFont typeface="Arial" panose="020B0604020202020204" pitchFamily="34" charset="0"/>
              <a:buChar char="•"/>
            </a:pPr>
            <a:r>
              <a:rPr lang="en-US" altLang="en-US" dirty="0"/>
              <a:t>Basic stock tracking software</a:t>
            </a:r>
          </a:p>
          <a:p>
            <a:pPr marL="1257300" lvl="2" indent="-342900" eaLnBrk="0" fontAlgn="base" hangingPunct="0">
              <a:spcBef>
                <a:spcPct val="0"/>
              </a:spcBef>
              <a:spcAft>
                <a:spcPct val="0"/>
              </a:spcAft>
              <a:buFont typeface="Arial" panose="020B0604020202020204" pitchFamily="34" charset="0"/>
              <a:buChar char="•"/>
            </a:pPr>
            <a:r>
              <a:rPr lang="en-US" altLang="en-US" dirty="0"/>
              <a:t>Limited automation capabilities</a:t>
            </a:r>
            <a:endParaRPr kumimoji="0" lang="en-US" altLang="en-US" i="0" u="none" strike="noStrike" cap="none" normalizeH="0" baseline="0" dirty="0">
              <a:ln>
                <a:noFill/>
              </a:ln>
              <a:solidFill>
                <a:schemeClr val="tx1"/>
              </a:solidFill>
              <a:effectLst/>
            </a:endParaRPr>
          </a:p>
          <a:p>
            <a:pPr lvl="1" eaLnBrk="0" fontAlgn="base" hangingPunct="0">
              <a:lnSpc>
                <a:spcPct val="150000"/>
              </a:lnSpc>
              <a:spcBef>
                <a:spcPct val="0"/>
              </a:spcBef>
              <a:spcAft>
                <a:spcPct val="0"/>
              </a:spcAft>
              <a:buFontTx/>
              <a:buAutoNum type="arabicPeriod" startAt="3"/>
            </a:pPr>
            <a:r>
              <a:rPr kumimoji="0" lang="en-US" altLang="en-US" b="1" i="0" u="none" strike="noStrike" cap="none" normalizeH="0" baseline="0" dirty="0">
                <a:ln>
                  <a:noFill/>
                </a:ln>
                <a:solidFill>
                  <a:schemeClr val="tx1"/>
                </a:solidFill>
                <a:effectLst/>
              </a:rPr>
              <a:t> Modern Stack Implementation</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MERN Stack Architecture</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Real-time data synchronization</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Cloud database integration</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Responsive design principles	</a:t>
            </a:r>
          </a:p>
        </p:txBody>
      </p:sp>
    </p:spTree>
    <p:extLst>
      <p:ext uri="{BB962C8B-B14F-4D97-AF65-F5344CB8AC3E}">
        <p14:creationId xmlns:p14="http://schemas.microsoft.com/office/powerpoint/2010/main" val="3742580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B46F26-D6D9-F2C1-C663-98419D4FD65C}"/>
              </a:ext>
            </a:extLst>
          </p:cNvPr>
          <p:cNvSpPr txBox="1"/>
          <p:nvPr/>
        </p:nvSpPr>
        <p:spPr>
          <a:xfrm>
            <a:off x="1446415" y="317504"/>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Literature Review</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3" name="TextBox 2">
            <a:extLst>
              <a:ext uri="{FF2B5EF4-FFF2-40B4-BE49-F238E27FC236}">
                <a16:creationId xmlns:a16="http://schemas.microsoft.com/office/drawing/2014/main" id="{A4499FC5-815A-27E5-E217-15B608D73284}"/>
              </a:ext>
            </a:extLst>
          </p:cNvPr>
          <p:cNvSpPr txBox="1"/>
          <p:nvPr/>
        </p:nvSpPr>
        <p:spPr>
          <a:xfrm>
            <a:off x="462987" y="1400537"/>
            <a:ext cx="11227443" cy="3231654"/>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dirty="0"/>
              <a:t>Related Work</a:t>
            </a:r>
            <a:endParaRPr lang="en-US" sz="2400" b="1" dirty="0">
              <a:effectLst/>
            </a:endParaRPr>
          </a:p>
          <a:p>
            <a:pPr algn="just">
              <a:buNone/>
            </a:pPr>
            <a:r>
              <a:rPr lang="en-US" dirty="0"/>
              <a:t>	</a:t>
            </a:r>
          </a:p>
          <a:p>
            <a:pPr lvl="1" eaLnBrk="0" fontAlgn="base" hangingPunct="0">
              <a:lnSpc>
                <a:spcPct val="150000"/>
              </a:lnSpc>
              <a:spcBef>
                <a:spcPct val="0"/>
              </a:spcBef>
              <a:spcAft>
                <a:spcPct val="0"/>
              </a:spcAft>
              <a:buFontTx/>
              <a:buAutoNum type="arabicPeriod" startAt="4"/>
            </a:pPr>
            <a:r>
              <a:rPr kumimoji="0" lang="en-US" altLang="en-US" b="1" i="0" u="none" strike="noStrike" cap="none" normalizeH="0" baseline="0" dirty="0">
                <a:ln>
                  <a:noFill/>
                </a:ln>
                <a:solidFill>
                  <a:schemeClr val="tx1"/>
                </a:solidFill>
                <a:effectLst/>
              </a:rPr>
              <a:t>  Automation</a:t>
            </a:r>
            <a:endParaRPr kumimoji="0" lang="en-US" altLang="en-US" b="0" i="0" u="none" strike="noStrike" cap="none" normalizeH="0" baseline="0" dirty="0">
              <a:ln>
                <a:noFill/>
              </a:ln>
              <a:solidFill>
                <a:schemeClr val="tx1"/>
              </a:solidFill>
              <a:effectLst/>
            </a:endParaRPr>
          </a:p>
          <a:p>
            <a:pPr marL="1200150" lvl="2"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rPr>
              <a:t>Automated expiry tracking</a:t>
            </a:r>
            <a:endParaRPr lang="en-US" altLang="en-US" b="1" dirty="0"/>
          </a:p>
          <a:p>
            <a:pPr marL="1200150" lvl="2" indent="-285750" eaLnBrk="0" fontAlgn="base" hangingPunct="0">
              <a:spcBef>
                <a:spcPct val="0"/>
              </a:spcBef>
              <a:spcAft>
                <a:spcPct val="0"/>
              </a:spcAft>
              <a:buFont typeface="Arial" panose="020B0604020202020204" pitchFamily="34" charset="0"/>
              <a:buChar char="•"/>
            </a:pPr>
            <a:r>
              <a:rPr lang="en-US" dirty="0"/>
              <a:t>Real-time notifications</a:t>
            </a:r>
          </a:p>
          <a:p>
            <a:pPr lvl="1" eaLnBrk="0" fontAlgn="base" hangingPunct="0">
              <a:lnSpc>
                <a:spcPct val="150000"/>
              </a:lnSpc>
              <a:spcBef>
                <a:spcPct val="0"/>
              </a:spcBef>
              <a:spcAft>
                <a:spcPct val="0"/>
              </a:spcAft>
            </a:pPr>
            <a:r>
              <a:rPr lang="en-US" b="1" dirty="0"/>
              <a:t>5. Data Management</a:t>
            </a:r>
            <a:endParaRPr lang="en-US" dirty="0"/>
          </a:p>
          <a:p>
            <a:pPr marL="1200150" lvl="2" indent="-285750" algn="just">
              <a:buFont typeface="Arial" panose="020B0604020202020204" pitchFamily="34" charset="0"/>
              <a:buChar char="•"/>
            </a:pPr>
            <a:r>
              <a:rPr lang="en-US" dirty="0"/>
              <a:t>Advanced filtering</a:t>
            </a:r>
          </a:p>
          <a:p>
            <a:pPr marL="1200150" lvl="2" indent="-285750" algn="just">
              <a:buFont typeface="Arial" panose="020B0604020202020204" pitchFamily="34" charset="0"/>
              <a:buChar char="•"/>
            </a:pPr>
            <a:r>
              <a:rPr lang="en-US" dirty="0"/>
              <a:t>Export capabilities</a:t>
            </a:r>
          </a:p>
          <a:p>
            <a:pPr>
              <a:buNone/>
            </a:pPr>
            <a:endParaRPr lang="en-US" dirty="0"/>
          </a:p>
          <a:p>
            <a:pPr algn="just">
              <a:buNone/>
            </a:pPr>
            <a:endParaRPr lang="en-US" dirty="0"/>
          </a:p>
        </p:txBody>
      </p:sp>
    </p:spTree>
    <p:extLst>
      <p:ext uri="{BB962C8B-B14F-4D97-AF65-F5344CB8AC3E}">
        <p14:creationId xmlns:p14="http://schemas.microsoft.com/office/powerpoint/2010/main" val="1440510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75172-2124-5768-ABC6-18915440379B}"/>
              </a:ext>
            </a:extLst>
          </p:cNvPr>
          <p:cNvSpPr txBox="1"/>
          <p:nvPr/>
        </p:nvSpPr>
        <p:spPr>
          <a:xfrm>
            <a:off x="1500203" y="365125"/>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System Design </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6" name="Title 5">
            <a:extLst>
              <a:ext uri="{FF2B5EF4-FFF2-40B4-BE49-F238E27FC236}">
                <a16:creationId xmlns:a16="http://schemas.microsoft.com/office/drawing/2014/main" id="{80B55710-C110-86E4-74A7-60DC43A4DDBB}"/>
              </a:ext>
            </a:extLst>
          </p:cNvPr>
          <p:cNvSpPr>
            <a:spLocks noGrp="1"/>
          </p:cNvSpPr>
          <p:nvPr>
            <p:ph type="title"/>
          </p:nvPr>
        </p:nvSpPr>
        <p:spPr>
          <a:xfrm>
            <a:off x="1217945" y="1196588"/>
            <a:ext cx="9210368" cy="671542"/>
          </a:xfrm>
        </p:spPr>
        <p:txBody>
          <a:bodyPr/>
          <a:lstStyle/>
          <a:p>
            <a:r>
              <a:rPr lang="en-IN" sz="2400" b="1" dirty="0">
                <a:latin typeface="+mn-lt"/>
              </a:rPr>
              <a:t>Architecture Diagram</a:t>
            </a:r>
            <a:br>
              <a:rPr lang="en-IN" sz="2400" dirty="0">
                <a:latin typeface="+mn-lt"/>
              </a:rPr>
            </a:br>
            <a:r>
              <a:rPr lang="en-IN" sz="2400" dirty="0">
                <a:latin typeface="+mn-lt"/>
              </a:rPr>
              <a:t>	</a:t>
            </a:r>
            <a:endParaRPr lang="en-IN" sz="1400" dirty="0">
              <a:latin typeface="+mn-lt"/>
            </a:endParaRPr>
          </a:p>
        </p:txBody>
      </p:sp>
      <p:pic>
        <p:nvPicPr>
          <p:cNvPr id="1026" name="Picture 2">
            <a:extLst>
              <a:ext uri="{FF2B5EF4-FFF2-40B4-BE49-F238E27FC236}">
                <a16:creationId xmlns:a16="http://schemas.microsoft.com/office/drawing/2014/main" id="{989EC6C3-C0D4-F09C-9EAF-2FCA91915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51820"/>
            <a:ext cx="12192000" cy="491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117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FF9A3-074A-C6D7-29B7-AB079BEC994B}"/>
              </a:ext>
            </a:extLst>
          </p:cNvPr>
          <p:cNvSpPr txBox="1"/>
          <p:nvPr/>
        </p:nvSpPr>
        <p:spPr>
          <a:xfrm>
            <a:off x="375783" y="4176209"/>
            <a:ext cx="11665975" cy="646331"/>
          </a:xfrm>
          <a:prstGeom prst="rect">
            <a:avLst/>
          </a:prstGeom>
          <a:noFill/>
        </p:spPr>
        <p:txBody>
          <a:bodyPr wrap="square" rtlCol="0">
            <a:spAutoFit/>
          </a:bodyPr>
          <a:lstStyle/>
          <a:p>
            <a:pPr algn="just"/>
            <a:endParaRPr lang="en-US" dirty="0"/>
          </a:p>
          <a:p>
            <a:pPr algn="just"/>
            <a:r>
              <a:rPr lang="en-US" b="1" dirty="0"/>
              <a:t>	</a:t>
            </a:r>
          </a:p>
        </p:txBody>
      </p:sp>
      <p:pic>
        <p:nvPicPr>
          <p:cNvPr id="3" name="Picture 2">
            <a:extLst>
              <a:ext uri="{FF2B5EF4-FFF2-40B4-BE49-F238E27FC236}">
                <a16:creationId xmlns:a16="http://schemas.microsoft.com/office/drawing/2014/main" id="{A6E73536-8BD9-21CF-5EDF-CE0AB337FB1C}"/>
              </a:ext>
            </a:extLst>
          </p:cNvPr>
          <p:cNvPicPr>
            <a:picLocks noChangeAspect="1"/>
          </p:cNvPicPr>
          <p:nvPr/>
        </p:nvPicPr>
        <p:blipFill>
          <a:blip r:embed="rId2"/>
          <a:stretch>
            <a:fillRect/>
          </a:stretch>
        </p:blipFill>
        <p:spPr>
          <a:xfrm>
            <a:off x="1773560" y="197000"/>
            <a:ext cx="8644877" cy="859611"/>
          </a:xfrm>
          <a:prstGeom prst="rect">
            <a:avLst/>
          </a:prstGeom>
        </p:spPr>
      </p:pic>
      <p:sp>
        <p:nvSpPr>
          <p:cNvPr id="4" name="Rectangle 1">
            <a:extLst>
              <a:ext uri="{FF2B5EF4-FFF2-40B4-BE49-F238E27FC236}">
                <a16:creationId xmlns:a16="http://schemas.microsoft.com/office/drawing/2014/main" id="{DE011A98-4D5A-8D9A-2CC3-A40F6CC706AD}"/>
              </a:ext>
            </a:extLst>
          </p:cNvPr>
          <p:cNvSpPr>
            <a:spLocks noChangeArrowheads="1"/>
          </p:cNvSpPr>
          <p:nvPr/>
        </p:nvSpPr>
        <p:spPr bwMode="auto">
          <a:xfrm>
            <a:off x="222730" y="1591943"/>
            <a:ext cx="11178334"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rPr>
              <a:t>Model Overview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Item Model </a:t>
            </a:r>
            <a:r>
              <a:rPr kumimoji="0" lang="en-US" altLang="en-US" sz="1800" b="0" i="0" u="none" strike="noStrike" cap="none" normalizeH="0" baseline="0" dirty="0">
                <a:ln>
                  <a:noFill/>
                </a:ln>
                <a:solidFill>
                  <a:schemeClr val="tx1"/>
                </a:solidFill>
                <a:effectLst/>
                <a:latin typeface="Arial" panose="020B0604020202020204" pitchFamily="34" charset="0"/>
              </a:rPr>
              <a:t>: Manages active inventory items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ExpiredItem Model : </a:t>
            </a:r>
            <a:r>
              <a:rPr kumimoji="0" lang="en-US" altLang="en-US" sz="1800" i="0" u="none" strike="noStrike" cap="none" normalizeH="0" baseline="0" dirty="0">
                <a:ln>
                  <a:noFill/>
                </a:ln>
                <a:solidFill>
                  <a:schemeClr val="tx1"/>
                </a:solidFill>
                <a:effectLst/>
                <a:latin typeface="Arial" panose="020B0604020202020204" pitchFamily="34" charset="0"/>
              </a:rPr>
              <a:t>Tracks expired inventory items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Settings Model </a:t>
            </a:r>
            <a:r>
              <a:rPr kumimoji="0" lang="en-US" altLang="en-US" sz="1800" i="0" u="none" strike="noStrike" cap="none" normalizeH="0" baseline="0" dirty="0">
                <a:ln>
                  <a:noFill/>
                </a:ln>
                <a:solidFill>
                  <a:schemeClr val="tx1"/>
                </a:solidFill>
                <a:effectLst/>
                <a:latin typeface="Arial" panose="020B0604020202020204" pitchFamily="34" charset="0"/>
              </a:rPr>
              <a:t>: Manages application settings and preference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Key Relationships: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Item → ExpiredItem</a:t>
            </a:r>
            <a:r>
              <a:rPr lang="en-US" altLang="en-US" dirty="0">
                <a:latin typeface="Arial" panose="020B0604020202020204" pitchFamily="34" charset="0"/>
              </a:rPr>
              <a:t> : </a:t>
            </a:r>
          </a:p>
          <a:p>
            <a:pPr marL="742950" lvl="1" indent="-285750" eaLnBrk="0" fontAlgn="base" hangingPunct="0">
              <a:spcBef>
                <a:spcPct val="0"/>
              </a:spcBef>
              <a:spcAft>
                <a:spcPct val="0"/>
              </a:spcAft>
              <a:buFont typeface="Courier New" panose="02070309020205020404" pitchFamily="49" charset="0"/>
              <a:buChar char="o"/>
            </a:pPr>
            <a:r>
              <a:rPr kumimoji="0" lang="en-US" altLang="en-US" i="0" u="none" strike="noStrike" cap="none" normalizeH="0" baseline="0" dirty="0">
                <a:ln>
                  <a:noFill/>
                </a:ln>
                <a:solidFill>
                  <a:schemeClr val="tx1"/>
                </a:solidFill>
                <a:effectLst/>
                <a:latin typeface="Arial" panose="020B0604020202020204" pitchFamily="34" charset="0"/>
              </a:rPr>
              <a:t>Items automatically move to ExpiredItem when expired</a:t>
            </a:r>
          </a:p>
          <a:p>
            <a:pPr lvl="1" eaLnBrk="0" fontAlgn="base" hangingPunct="0">
              <a:spcBef>
                <a:spcPct val="0"/>
              </a:spcBef>
              <a:spcAft>
                <a:spcPct val="0"/>
              </a:spcAft>
            </a:pPr>
            <a:endParaRPr kumimoji="0" lang="en-US" altLang="en-US"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Item → Settings</a:t>
            </a:r>
            <a:r>
              <a:rPr kumimoji="0" lang="en-US" altLang="en-US" sz="1800" i="0" u="none" strike="noStrike" cap="none" normalizeH="0" baseline="0" dirty="0">
                <a:ln>
                  <a:noFill/>
                </a:ln>
                <a:solidFill>
                  <a:schemeClr val="tx1"/>
                </a:solidFill>
                <a:effectLst/>
                <a:latin typeface="Arial" panose="020B0604020202020204" pitchFamily="34" charset="0"/>
              </a:rPr>
              <a:t> : </a:t>
            </a:r>
          </a:p>
          <a:p>
            <a:pPr marL="742950" lvl="1" indent="-285750" eaLnBrk="0" fontAlgn="base" hangingPunct="0">
              <a:spcBef>
                <a:spcPct val="0"/>
              </a:spcBef>
              <a:spcAft>
                <a:spcPct val="0"/>
              </a:spcAft>
              <a:buFont typeface="Courier New" panose="02070309020205020404" pitchFamily="49" charset="0"/>
              <a:buChar char="o"/>
            </a:pPr>
            <a:r>
              <a:rPr kumimoji="0" lang="en-US" altLang="en-US" i="0" u="none" strike="noStrike" cap="none" normalizeH="0" baseline="0" dirty="0">
                <a:ln>
                  <a:noFill/>
                </a:ln>
                <a:solidFill>
                  <a:schemeClr val="tx1"/>
                </a:solidFill>
                <a:effectLst/>
                <a:latin typeface="Arial" panose="020B0604020202020204" pitchFamily="34" charset="0"/>
              </a:rPr>
              <a:t>Settings control item thresholds</a:t>
            </a:r>
          </a:p>
          <a:p>
            <a:pPr marL="742950" lvl="1" indent="-285750" eaLnBrk="0" fontAlgn="base" hangingPunct="0">
              <a:spcBef>
                <a:spcPct val="0"/>
              </a:spcBef>
              <a:spcAft>
                <a:spcPct val="0"/>
              </a:spcAft>
              <a:buFont typeface="Courier New" panose="02070309020205020404" pitchFamily="49" charset="0"/>
              <a:buChar char="o"/>
            </a:pPr>
            <a:r>
              <a:rPr kumimoji="0" lang="en-US" altLang="en-US" i="0" u="none" strike="noStrike" cap="none" normalizeH="0" baseline="0" dirty="0">
                <a:ln>
                  <a:noFill/>
                </a:ln>
                <a:solidFill>
                  <a:schemeClr val="tx1"/>
                </a:solidFill>
                <a:effectLst/>
                <a:latin typeface="Arial" panose="020B0604020202020204" pitchFamily="34" charset="0"/>
              </a:rPr>
              <a:t>Notifications based on settings</a:t>
            </a:r>
          </a:p>
        </p:txBody>
      </p:sp>
    </p:spTree>
    <p:extLst>
      <p:ext uri="{BB962C8B-B14F-4D97-AF65-F5344CB8AC3E}">
        <p14:creationId xmlns:p14="http://schemas.microsoft.com/office/powerpoint/2010/main" val="342514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5E074A-CF12-C477-BDCE-748EB5446DCE}"/>
              </a:ext>
            </a:extLst>
          </p:cNvPr>
          <p:cNvSpPr txBox="1"/>
          <p:nvPr/>
        </p:nvSpPr>
        <p:spPr>
          <a:xfrm>
            <a:off x="1446415" y="317504"/>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2" name="Rectangle 1">
            <a:extLst>
              <a:ext uri="{FF2B5EF4-FFF2-40B4-BE49-F238E27FC236}">
                <a16:creationId xmlns:a16="http://schemas.microsoft.com/office/drawing/2014/main" id="{1C56A35A-2FA4-CC0D-5340-8526921E3C66}"/>
              </a:ext>
            </a:extLst>
          </p:cNvPr>
          <p:cNvSpPr>
            <a:spLocks noChangeArrowheads="1"/>
          </p:cNvSpPr>
          <p:nvPr/>
        </p:nvSpPr>
        <p:spPr bwMode="auto">
          <a:xfrm>
            <a:off x="447367" y="1300324"/>
            <a:ext cx="11297265" cy="512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rPr>
              <a:t>Technologies Used</a:t>
            </a:r>
          </a:p>
          <a:p>
            <a:pPr marR="0" lvl="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The </a:t>
            </a:r>
            <a:r>
              <a:rPr kumimoji="0" lang="en-US" altLang="en-US" b="1" i="0" u="none" strike="noStrike" cap="none" normalizeH="0" baseline="0" dirty="0" err="1">
                <a:ln>
                  <a:noFill/>
                </a:ln>
                <a:solidFill>
                  <a:schemeClr val="tx1"/>
                </a:solidFill>
                <a:effectLst/>
              </a:rPr>
              <a:t>MedInventry</a:t>
            </a:r>
            <a:r>
              <a:rPr kumimoji="0" lang="en-US" altLang="en-US" b="0" i="0" u="none" strike="noStrike" cap="none" normalizeH="0" baseline="0" dirty="0">
                <a:ln>
                  <a:noFill/>
                </a:ln>
                <a:solidFill>
                  <a:schemeClr val="tx1"/>
                </a:solidFill>
                <a:effectLst/>
              </a:rPr>
              <a:t> is implemented using the following technologies and tools:</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MERN Stack </a:t>
            </a:r>
            <a:r>
              <a:rPr kumimoji="0" lang="en-US" altLang="en-US" b="0" i="0" u="none" strike="noStrike" cap="none" normalizeH="0" baseline="0" dirty="0">
                <a:ln>
                  <a:noFill/>
                </a:ln>
                <a:solidFill>
                  <a:schemeClr val="tx1"/>
                </a:solidFill>
                <a:effectLst/>
              </a:rPr>
              <a:t>–</a:t>
            </a:r>
            <a:endParaRPr lang="en-US" altLang="en-US" b="1" dirty="0"/>
          </a:p>
          <a:p>
            <a:pPr marL="1200150" lvl="2"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rPr>
              <a:t>React.js (v19.0.0)</a:t>
            </a:r>
          </a:p>
          <a:p>
            <a:pPr marL="1200150" lvl="2"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rPr>
              <a:t>Express.js (v4.21.2)</a:t>
            </a:r>
          </a:p>
          <a:p>
            <a:pPr marL="1200150" lvl="2"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rPr>
              <a:t>MongoDB (Mongoose v8.10.0)</a:t>
            </a:r>
          </a:p>
          <a:p>
            <a:pPr marL="1200150" lvl="2"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rPr>
              <a:t>Node.js</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Additional Frontend Libraries</a:t>
            </a:r>
            <a:r>
              <a:rPr kumimoji="0" lang="en-US" altLang="en-US" b="0" i="0" u="none" strike="noStrike" cap="none" normalizeH="0" baseline="0" dirty="0">
                <a:ln>
                  <a:noFill/>
                </a:ln>
                <a:solidFill>
                  <a:schemeClr val="tx1"/>
                </a:solidFill>
                <a:effectLst/>
              </a:rPr>
              <a:t> – </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rPr>
              <a:t>Lucide</a:t>
            </a:r>
            <a:r>
              <a:rPr kumimoji="0" lang="en-US" altLang="en-US" b="0" i="0" u="none" strike="noStrike" cap="none" normalizeH="0" baseline="0" dirty="0">
                <a:ln>
                  <a:noFill/>
                </a:ln>
                <a:solidFill>
                  <a:schemeClr val="tx1"/>
                </a:solidFill>
                <a:effectLst/>
              </a:rPr>
              <a:t> React – Icons</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React Hot Toast – Notifications</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err="1">
                <a:ln>
                  <a:noFill/>
                </a:ln>
                <a:solidFill>
                  <a:schemeClr val="tx1"/>
                </a:solidFill>
                <a:effectLst/>
              </a:rPr>
              <a:t>TailwindCSS</a:t>
            </a:r>
            <a:r>
              <a:rPr kumimoji="0" lang="en-US" altLang="en-US" b="0" i="0" u="none" strike="noStrike" cap="none" normalizeH="0" baseline="0" dirty="0">
                <a:ln>
                  <a:noFill/>
                </a:ln>
                <a:solidFill>
                  <a:schemeClr val="tx1"/>
                </a:solidFill>
                <a:effectLst/>
              </a:rPr>
              <a:t> (v4.0.4)</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Additional Backend Packages</a:t>
            </a:r>
            <a:r>
              <a:rPr kumimoji="0" lang="en-US" altLang="en-US" b="0" i="0" u="none" strike="noStrike" cap="none" normalizeH="0" baseline="0" dirty="0">
                <a:ln>
                  <a:noFill/>
                </a:ln>
                <a:solidFill>
                  <a:schemeClr val="tx1"/>
                </a:solidFill>
                <a:effectLst/>
              </a:rPr>
              <a:t> – </a:t>
            </a:r>
          </a:p>
          <a:p>
            <a:pPr marL="1200150" lvl="2"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Multer - File upload handling</a:t>
            </a:r>
          </a:p>
          <a:p>
            <a:pPr marL="1200150" lvl="2" indent="-285750" eaLnBrk="0" fontAlgn="base" hangingPunct="0">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CORS - Cross-origin resource sharing</a:t>
            </a:r>
          </a:p>
          <a:p>
            <a:pPr marL="1200150" lvl="2" indent="-285750" eaLnBrk="0" fontAlgn="base" hangingPunct="0">
              <a:spcBef>
                <a:spcPct val="0"/>
              </a:spcBef>
              <a:spcAft>
                <a:spcPct val="0"/>
              </a:spcAft>
              <a:buFont typeface="Arial" panose="020B0604020202020204" pitchFamily="34" charset="0"/>
              <a:buChar char="•"/>
            </a:pPr>
            <a:r>
              <a:rPr kumimoji="0" lang="en-US" altLang="en-US" sz="1800" b="0" i="0" u="none" strike="noStrike" cap="none" normalizeH="0" baseline="0" dirty="0" err="1">
                <a:ln>
                  <a:noFill/>
                </a:ln>
                <a:solidFill>
                  <a:schemeClr val="tx1"/>
                </a:solidFill>
                <a:effectLst/>
              </a:rPr>
              <a:t>Dotenv</a:t>
            </a:r>
            <a:r>
              <a:rPr kumimoji="0" lang="en-US" altLang="en-US" sz="1800" b="0" i="0" u="none" strike="noStrike" cap="none" normalizeH="0" baseline="0" dirty="0">
                <a:ln>
                  <a:noFill/>
                </a:ln>
                <a:solidFill>
                  <a:schemeClr val="tx1"/>
                </a:solidFill>
                <a:effectLst/>
              </a:rPr>
              <a:t> - Environment variables</a:t>
            </a:r>
          </a:p>
        </p:txBody>
      </p:sp>
    </p:spTree>
    <p:extLst>
      <p:ext uri="{BB962C8B-B14F-4D97-AF65-F5344CB8AC3E}">
        <p14:creationId xmlns:p14="http://schemas.microsoft.com/office/powerpoint/2010/main" val="370692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4A03-391F-9B88-0729-54E57DE5E3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585182-36EA-4D61-7E78-626FE4177C9E}"/>
              </a:ext>
            </a:extLst>
          </p:cNvPr>
          <p:cNvSpPr txBox="1"/>
          <p:nvPr/>
        </p:nvSpPr>
        <p:spPr>
          <a:xfrm>
            <a:off x="817581" y="1280077"/>
            <a:ext cx="11297265" cy="1477328"/>
          </a:xfrm>
          <a:prstGeom prst="rect">
            <a:avLst/>
          </a:prstGeom>
          <a:noFill/>
        </p:spPr>
        <p:txBody>
          <a:bodyPr wrap="square">
            <a:spAutoFit/>
          </a:bodyPr>
          <a:lstStyle/>
          <a:p>
            <a:pPr marL="342900" indent="-342900">
              <a:buFont typeface="Wingdings" panose="05000000000000000000" pitchFamily="2" charset="2"/>
              <a:buChar char="Ø"/>
            </a:pPr>
            <a:r>
              <a:rPr lang="en-IN" sz="2400" b="1" dirty="0" err="1"/>
              <a:t>ScreenShots</a:t>
            </a:r>
            <a:endParaRPr lang="en-IN" sz="2400" b="1" dirty="0"/>
          </a:p>
          <a:p>
            <a:r>
              <a:rPr lang="en-IN" sz="2400" b="1" dirty="0"/>
              <a:t>	</a:t>
            </a:r>
            <a:endParaRPr lang="en-IN" dirty="0"/>
          </a:p>
          <a:p>
            <a:pPr>
              <a:buNone/>
            </a:pPr>
            <a:endParaRPr lang="en-IN" sz="2400" b="1" dirty="0"/>
          </a:p>
          <a:p>
            <a:pPr algn="just">
              <a:buNone/>
            </a:pPr>
            <a:r>
              <a:rPr lang="en-IN" dirty="0"/>
              <a:t>	</a:t>
            </a:r>
          </a:p>
        </p:txBody>
      </p:sp>
      <p:sp>
        <p:nvSpPr>
          <p:cNvPr id="6" name="TextBox 5">
            <a:extLst>
              <a:ext uri="{FF2B5EF4-FFF2-40B4-BE49-F238E27FC236}">
                <a16:creationId xmlns:a16="http://schemas.microsoft.com/office/drawing/2014/main" id="{755D715B-C8F2-6F28-9732-E9ED78747158}"/>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3" name="Picture 2">
            <a:extLst>
              <a:ext uri="{FF2B5EF4-FFF2-40B4-BE49-F238E27FC236}">
                <a16:creationId xmlns:a16="http://schemas.microsoft.com/office/drawing/2014/main" id="{C790E7D3-3CA7-CB79-5B7E-9F11037CC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781" y="1795792"/>
            <a:ext cx="9704438" cy="4609608"/>
          </a:xfrm>
          <a:prstGeom prst="rect">
            <a:avLst/>
          </a:prstGeom>
        </p:spPr>
      </p:pic>
    </p:spTree>
    <p:extLst>
      <p:ext uri="{BB962C8B-B14F-4D97-AF65-F5344CB8AC3E}">
        <p14:creationId xmlns:p14="http://schemas.microsoft.com/office/powerpoint/2010/main" val="377999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245242D-3114-292A-B228-776C4739B574}"/>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3" name="Picture 2">
            <a:extLst>
              <a:ext uri="{FF2B5EF4-FFF2-40B4-BE49-F238E27FC236}">
                <a16:creationId xmlns:a16="http://schemas.microsoft.com/office/drawing/2014/main" id="{2175AE93-4EAF-9B8E-51BF-313B9DFAC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820" y="1312139"/>
            <a:ext cx="10412360" cy="5035352"/>
          </a:xfrm>
          <a:prstGeom prst="rect">
            <a:avLst/>
          </a:prstGeom>
        </p:spPr>
      </p:pic>
    </p:spTree>
    <p:extLst>
      <p:ext uri="{BB962C8B-B14F-4D97-AF65-F5344CB8AC3E}">
        <p14:creationId xmlns:p14="http://schemas.microsoft.com/office/powerpoint/2010/main" val="4005745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C51A8-A065-AD4F-1626-40FE447661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CA9CDC-46FF-163C-C75A-F9044CE54705}"/>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3" name="Picture 2">
            <a:extLst>
              <a:ext uri="{FF2B5EF4-FFF2-40B4-BE49-F238E27FC236}">
                <a16:creationId xmlns:a16="http://schemas.microsoft.com/office/drawing/2014/main" id="{300BC1AB-E553-DEFB-EF4C-453E523E3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761" y="1160222"/>
            <a:ext cx="10874477" cy="5207855"/>
          </a:xfrm>
          <a:prstGeom prst="rect">
            <a:avLst/>
          </a:prstGeom>
        </p:spPr>
      </p:pic>
    </p:spTree>
    <p:extLst>
      <p:ext uri="{BB962C8B-B14F-4D97-AF65-F5344CB8AC3E}">
        <p14:creationId xmlns:p14="http://schemas.microsoft.com/office/powerpoint/2010/main" val="1743841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0CDC0-B849-706A-6FE3-AC71DD957C0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BD4166-1852-76C1-B523-622D03F13D08}"/>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3" name="Picture 2">
            <a:extLst>
              <a:ext uri="{FF2B5EF4-FFF2-40B4-BE49-F238E27FC236}">
                <a16:creationId xmlns:a16="http://schemas.microsoft.com/office/drawing/2014/main" id="{D2C32378-2CAA-45F4-6F58-381096A65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690" y="1232465"/>
            <a:ext cx="11100619" cy="5177398"/>
          </a:xfrm>
          <a:prstGeom prst="rect">
            <a:avLst/>
          </a:prstGeom>
        </p:spPr>
      </p:pic>
    </p:spTree>
    <p:extLst>
      <p:ext uri="{BB962C8B-B14F-4D97-AF65-F5344CB8AC3E}">
        <p14:creationId xmlns:p14="http://schemas.microsoft.com/office/powerpoint/2010/main" val="1905244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D110A-DDAF-F3CF-E02B-9508C30CA82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B5FABC-60BA-9C78-34BD-BB6DE6F61E57}"/>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4" name="Picture 3">
            <a:extLst>
              <a:ext uri="{FF2B5EF4-FFF2-40B4-BE49-F238E27FC236}">
                <a16:creationId xmlns:a16="http://schemas.microsoft.com/office/drawing/2014/main" id="{2EB3AE01-87EC-9B57-D53C-6EA907105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426" y="1172927"/>
            <a:ext cx="10835148" cy="5180555"/>
          </a:xfrm>
          <a:prstGeom prst="rect">
            <a:avLst/>
          </a:prstGeom>
        </p:spPr>
      </p:pic>
    </p:spTree>
    <p:extLst>
      <p:ext uri="{BB962C8B-B14F-4D97-AF65-F5344CB8AC3E}">
        <p14:creationId xmlns:p14="http://schemas.microsoft.com/office/powerpoint/2010/main" val="3665768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AE525-8034-CB44-0844-C757A148EF0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35DAC2C-CC81-6A50-1D38-89D799D73232}"/>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Implementation</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pic>
        <p:nvPicPr>
          <p:cNvPr id="3" name="Picture 2">
            <a:extLst>
              <a:ext uri="{FF2B5EF4-FFF2-40B4-BE49-F238E27FC236}">
                <a16:creationId xmlns:a16="http://schemas.microsoft.com/office/drawing/2014/main" id="{71041B12-69EA-DBB4-B7D1-419F3EE3D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361" y="1248719"/>
            <a:ext cx="11179277" cy="5249020"/>
          </a:xfrm>
          <a:prstGeom prst="rect">
            <a:avLst/>
          </a:prstGeom>
        </p:spPr>
      </p:pic>
    </p:spTree>
    <p:extLst>
      <p:ext uri="{BB962C8B-B14F-4D97-AF65-F5344CB8AC3E}">
        <p14:creationId xmlns:p14="http://schemas.microsoft.com/office/powerpoint/2010/main" val="3644438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7F88F4-AEF9-06C4-0CC7-3047AE7E9D83}"/>
              </a:ext>
            </a:extLst>
          </p:cNvPr>
          <p:cNvSpPr txBox="1"/>
          <p:nvPr/>
        </p:nvSpPr>
        <p:spPr>
          <a:xfrm>
            <a:off x="471949" y="1461725"/>
            <a:ext cx="11002296" cy="461665"/>
          </a:xfrm>
          <a:prstGeom prst="rect">
            <a:avLst/>
          </a:prstGeom>
          <a:noFill/>
        </p:spPr>
        <p:txBody>
          <a:bodyPr wrap="square">
            <a:spAutoFit/>
          </a:bodyPr>
          <a:lstStyle/>
          <a:p>
            <a:pPr marL="342900" indent="-342900" algn="just">
              <a:buFont typeface="Wingdings" panose="05000000000000000000" pitchFamily="2" charset="2"/>
              <a:buChar char="Ø"/>
            </a:pPr>
            <a:r>
              <a:rPr lang="en-IN" sz="2400" b="1" dirty="0"/>
              <a:t>Key Performance Metrics for </a:t>
            </a:r>
            <a:r>
              <a:rPr lang="en-IN" sz="2400" b="1" dirty="0" err="1"/>
              <a:t>MedInventory</a:t>
            </a:r>
            <a:r>
              <a:rPr lang="en-IN" sz="2400" b="1" dirty="0"/>
              <a:t> System:</a:t>
            </a:r>
          </a:p>
        </p:txBody>
      </p:sp>
      <p:sp>
        <p:nvSpPr>
          <p:cNvPr id="6" name="TextBox 5">
            <a:extLst>
              <a:ext uri="{FF2B5EF4-FFF2-40B4-BE49-F238E27FC236}">
                <a16:creationId xmlns:a16="http://schemas.microsoft.com/office/drawing/2014/main" id="{803BDEB3-4B72-15AF-46DA-2B500EAAE913}"/>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Testing and Results</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graphicFrame>
        <p:nvGraphicFramePr>
          <p:cNvPr id="2" name="Table 1">
            <a:extLst>
              <a:ext uri="{FF2B5EF4-FFF2-40B4-BE49-F238E27FC236}">
                <a16:creationId xmlns:a16="http://schemas.microsoft.com/office/drawing/2014/main" id="{CBE50622-A0A8-8F89-726C-4FF03025CE60}"/>
              </a:ext>
            </a:extLst>
          </p:cNvPr>
          <p:cNvGraphicFramePr>
            <a:graphicFrameLocks noGrp="1"/>
          </p:cNvGraphicFramePr>
          <p:nvPr>
            <p:extLst>
              <p:ext uri="{D42A27DB-BD31-4B8C-83A1-F6EECF244321}">
                <p14:modId xmlns:p14="http://schemas.microsoft.com/office/powerpoint/2010/main" val="2303000780"/>
              </p:ext>
            </p:extLst>
          </p:nvPr>
        </p:nvGraphicFramePr>
        <p:xfrm>
          <a:off x="367129" y="3057832"/>
          <a:ext cx="10866225" cy="3057834"/>
        </p:xfrm>
        <a:graphic>
          <a:graphicData uri="http://schemas.openxmlformats.org/drawingml/2006/table">
            <a:tbl>
              <a:tblPr firstRow="1" firstCol="1" bandRow="1">
                <a:tableStyleId>{5C22544A-7EE6-4342-B048-85BDC9FD1C3A}</a:tableStyleId>
              </a:tblPr>
              <a:tblGrid>
                <a:gridCol w="2173245">
                  <a:extLst>
                    <a:ext uri="{9D8B030D-6E8A-4147-A177-3AD203B41FA5}">
                      <a16:colId xmlns:a16="http://schemas.microsoft.com/office/drawing/2014/main" val="3153177557"/>
                    </a:ext>
                  </a:extLst>
                </a:gridCol>
                <a:gridCol w="2173245">
                  <a:extLst>
                    <a:ext uri="{9D8B030D-6E8A-4147-A177-3AD203B41FA5}">
                      <a16:colId xmlns:a16="http://schemas.microsoft.com/office/drawing/2014/main" val="4055271739"/>
                    </a:ext>
                  </a:extLst>
                </a:gridCol>
                <a:gridCol w="2173245">
                  <a:extLst>
                    <a:ext uri="{9D8B030D-6E8A-4147-A177-3AD203B41FA5}">
                      <a16:colId xmlns:a16="http://schemas.microsoft.com/office/drawing/2014/main" val="2382925636"/>
                    </a:ext>
                  </a:extLst>
                </a:gridCol>
                <a:gridCol w="2173245">
                  <a:extLst>
                    <a:ext uri="{9D8B030D-6E8A-4147-A177-3AD203B41FA5}">
                      <a16:colId xmlns:a16="http://schemas.microsoft.com/office/drawing/2014/main" val="3877176804"/>
                    </a:ext>
                  </a:extLst>
                </a:gridCol>
                <a:gridCol w="2173245">
                  <a:extLst>
                    <a:ext uri="{9D8B030D-6E8A-4147-A177-3AD203B41FA5}">
                      <a16:colId xmlns:a16="http://schemas.microsoft.com/office/drawing/2014/main" val="3365314662"/>
                    </a:ext>
                  </a:extLst>
                </a:gridCol>
              </a:tblGrid>
              <a:tr h="509639">
                <a:tc>
                  <a:txBody>
                    <a:bodyPr/>
                    <a:lstStyle/>
                    <a:p>
                      <a:pPr algn="ctr">
                        <a:buNone/>
                      </a:pPr>
                      <a:r>
                        <a:rPr lang="en-US" sz="1200" kern="100" dirty="0">
                          <a:effectLst/>
                        </a:rPr>
                        <a:t>Test Case ID</a:t>
                      </a:r>
                      <a:endParaRPr lang="en-IN" sz="12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lgn="ctr">
                        <a:buNone/>
                      </a:pPr>
                      <a:r>
                        <a:rPr lang="en-US" sz="1200" kern="100">
                          <a:effectLst/>
                        </a:rPr>
                        <a:t>Description</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lgn="ctr">
                        <a:buNone/>
                      </a:pPr>
                      <a:r>
                        <a:rPr lang="en-US" sz="1200" kern="100">
                          <a:effectLst/>
                        </a:rPr>
                        <a:t>Expected Outcome</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lgn="ctr">
                        <a:buNone/>
                      </a:pPr>
                      <a:r>
                        <a:rPr lang="en-US" sz="1200" kern="100">
                          <a:effectLst/>
                        </a:rPr>
                        <a:t>Actual Outcome</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lgn="ctr">
                        <a:buNone/>
                      </a:pPr>
                      <a:r>
                        <a:rPr lang="en-US" sz="1200" kern="100" dirty="0">
                          <a:effectLst/>
                        </a:rPr>
                        <a:t>Status</a:t>
                      </a:r>
                      <a:endParaRPr lang="en-IN" sz="12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1158990991"/>
                  </a:ext>
                </a:extLst>
              </a:tr>
              <a:tr h="509639">
                <a:tc>
                  <a:txBody>
                    <a:bodyPr/>
                    <a:lstStyle/>
                    <a:p>
                      <a:pPr>
                        <a:buNone/>
                      </a:pPr>
                      <a:r>
                        <a:rPr lang="en-US" sz="1200" kern="100">
                          <a:effectLst/>
                        </a:rPr>
                        <a:t>TC-01</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Add Inventory Item</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Item added successfully</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Item created in DB</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Pass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3883517017"/>
                  </a:ext>
                </a:extLst>
              </a:tr>
              <a:tr h="509639">
                <a:tc>
                  <a:txBody>
                    <a:bodyPr/>
                    <a:lstStyle/>
                    <a:p>
                      <a:pPr>
                        <a:buNone/>
                      </a:pPr>
                      <a:r>
                        <a:rPr lang="en-US" sz="1200" kern="100">
                          <a:effectLst/>
                        </a:rPr>
                        <a:t>TC-02</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Update Inventory Quantity</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Quantity updated successfully</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Quantity changed in DB</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Pass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3659138151"/>
                  </a:ext>
                </a:extLst>
              </a:tr>
              <a:tr h="509639">
                <a:tc>
                  <a:txBody>
                    <a:bodyPr/>
                    <a:lstStyle/>
                    <a:p>
                      <a:pPr>
                        <a:buNone/>
                      </a:pPr>
                      <a:r>
                        <a:rPr lang="en-US" sz="1200" kern="100">
                          <a:effectLst/>
                        </a:rPr>
                        <a:t>TC-03</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Expiry Alerts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Notifications for expired items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Alerts received</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Pass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2393618538"/>
                  </a:ext>
                </a:extLst>
              </a:tr>
              <a:tr h="509639">
                <a:tc>
                  <a:txBody>
                    <a:bodyPr/>
                    <a:lstStyle/>
                    <a:p>
                      <a:pPr>
                        <a:buNone/>
                      </a:pPr>
                      <a:r>
                        <a:rPr lang="en-US" sz="1200" kern="100">
                          <a:effectLst/>
                        </a:rPr>
                        <a:t>TC-04</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Search and Filter</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Correct items displayed</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Results matched</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Pass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2423840031"/>
                  </a:ext>
                </a:extLst>
              </a:tr>
              <a:tr h="509639">
                <a:tc>
                  <a:txBody>
                    <a:bodyPr/>
                    <a:lstStyle/>
                    <a:p>
                      <a:pPr>
                        <a:buNone/>
                      </a:pPr>
                      <a:r>
                        <a:rPr lang="en-US" sz="1200" kern="100" dirty="0">
                          <a:effectLst/>
                        </a:rPr>
                        <a:t>TC-05</a:t>
                      </a:r>
                      <a:endParaRPr lang="en-IN" sz="12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Generate Reports</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dirty="0">
                          <a:effectLst/>
                        </a:rPr>
                        <a:t>Report generated successfully</a:t>
                      </a:r>
                      <a:endParaRPr lang="en-IN" sz="12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a:effectLst/>
                        </a:rPr>
                        <a:t>Report downloaded</a:t>
                      </a:r>
                      <a:endParaRPr lang="en-IN" sz="12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tc>
                  <a:txBody>
                    <a:bodyPr/>
                    <a:lstStyle/>
                    <a:p>
                      <a:pPr>
                        <a:buNone/>
                      </a:pPr>
                      <a:r>
                        <a:rPr lang="en-US" sz="1200" kern="100" dirty="0">
                          <a:effectLst/>
                        </a:rPr>
                        <a:t>Pass</a:t>
                      </a:r>
                      <a:endParaRPr lang="en-IN" sz="12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9248" marR="69248" marT="0" marB="0"/>
                </a:tc>
                <a:extLst>
                  <a:ext uri="{0D108BD9-81ED-4DB2-BD59-A6C34878D82A}">
                    <a16:rowId xmlns:a16="http://schemas.microsoft.com/office/drawing/2014/main" val="1946683563"/>
                  </a:ext>
                </a:extLst>
              </a:tr>
            </a:tbl>
          </a:graphicData>
        </a:graphic>
      </p:graphicFrame>
    </p:spTree>
    <p:extLst>
      <p:ext uri="{BB962C8B-B14F-4D97-AF65-F5344CB8AC3E}">
        <p14:creationId xmlns:p14="http://schemas.microsoft.com/office/powerpoint/2010/main" val="765122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615DB8-661F-DAB6-9EB9-DD215622EE69}"/>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Conclusion and Future Scope</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4" name="TextBox 3">
            <a:extLst>
              <a:ext uri="{FF2B5EF4-FFF2-40B4-BE49-F238E27FC236}">
                <a16:creationId xmlns:a16="http://schemas.microsoft.com/office/drawing/2014/main" id="{7C27526E-7F19-795D-23AA-48DDDDD5264A}"/>
              </a:ext>
            </a:extLst>
          </p:cNvPr>
          <p:cNvSpPr txBox="1"/>
          <p:nvPr/>
        </p:nvSpPr>
        <p:spPr>
          <a:xfrm>
            <a:off x="646735" y="1202189"/>
            <a:ext cx="10304206" cy="5816977"/>
          </a:xfrm>
          <a:prstGeom prst="rect">
            <a:avLst/>
          </a:prstGeom>
          <a:noFill/>
        </p:spPr>
        <p:txBody>
          <a:bodyPr wrap="square">
            <a:spAutoFit/>
          </a:bodyPr>
          <a:lstStyle/>
          <a:p>
            <a:pPr algn="just"/>
            <a:r>
              <a:rPr lang="en-IN" dirty="0"/>
              <a:t> </a:t>
            </a:r>
            <a:r>
              <a:rPr lang="en-IN" sz="2400" b="1" dirty="0"/>
              <a:t>Conclusion:</a:t>
            </a:r>
            <a:endParaRPr lang="en-IN" sz="2400" dirty="0"/>
          </a:p>
          <a:p>
            <a:r>
              <a:rPr lang="en-US" dirty="0"/>
              <a:t>	The Medical Inventory Management System provides an efficient and user-friendly platform for managing medical supplies, reducing wastage, and ensuring seamless inventory tracking. With its implementation, healthcare institutions can streamline their inventory processes, minimize errors, and improve resource utilization. The system integrates modern web technologies, ensuring a scalable and responsive user experience. By utilizing a database-driven approach, it offers real-time updates and inventory insights, enhancing overall operational efficiency.</a:t>
            </a:r>
          </a:p>
          <a:p>
            <a:pPr algn="just"/>
            <a:r>
              <a:rPr lang="en-IN" sz="2400" b="1" dirty="0"/>
              <a:t>Future Scope:</a:t>
            </a:r>
          </a:p>
          <a:p>
            <a:pPr marL="800100" lvl="1" indent="-342900" algn="just">
              <a:buFont typeface="Arial" panose="020B0604020202020204" pitchFamily="34" charset="0"/>
              <a:buChar char="•"/>
            </a:pPr>
            <a:r>
              <a:rPr lang="en-IN" dirty="0"/>
              <a:t>AI-Powered Demand Forecasting</a:t>
            </a:r>
          </a:p>
          <a:p>
            <a:pPr marL="800100" lvl="1" indent="-342900" algn="just">
              <a:buFont typeface="Arial" panose="020B0604020202020204" pitchFamily="34" charset="0"/>
              <a:buChar char="•"/>
            </a:pPr>
            <a:r>
              <a:rPr lang="en-US" dirty="0"/>
              <a:t>Supplier and Order Management</a:t>
            </a:r>
          </a:p>
          <a:p>
            <a:pPr marL="800100" lvl="1" indent="-342900" algn="just">
              <a:buFont typeface="Arial" panose="020B0604020202020204" pitchFamily="34" charset="0"/>
              <a:buChar char="•"/>
            </a:pPr>
            <a:r>
              <a:rPr lang="en-US" dirty="0"/>
              <a:t>Automated Alerts and Reports</a:t>
            </a:r>
          </a:p>
          <a:p>
            <a:pPr marL="800100" lvl="1" indent="-342900" algn="just">
              <a:buFont typeface="Arial" panose="020B0604020202020204" pitchFamily="34" charset="0"/>
              <a:buChar char="•"/>
            </a:pPr>
            <a:r>
              <a:rPr lang="en-US" dirty="0"/>
              <a:t>Adding Medicine recommend system</a:t>
            </a:r>
          </a:p>
          <a:p>
            <a:pPr marL="800100" lvl="1" indent="-342900" algn="just">
              <a:buFont typeface="Arial" panose="020B0604020202020204" pitchFamily="34" charset="0"/>
              <a:buChar char="•"/>
            </a:pPr>
            <a:endParaRPr lang="en-IN" dirty="0"/>
          </a:p>
          <a:p>
            <a:pPr algn="just"/>
            <a:r>
              <a:rPr lang="en-IN" sz="2400" b="1" dirty="0"/>
              <a:t>Final Thoughts:</a:t>
            </a:r>
          </a:p>
          <a:p>
            <a:r>
              <a:rPr lang="en-IN" sz="2400" b="1" dirty="0"/>
              <a:t>	</a:t>
            </a:r>
            <a:r>
              <a:rPr lang="en-US" dirty="0"/>
              <a:t> The development of this system marks a significant step toward digital transformation in medical inventory management. It not only simplifies stock tracking but also ensures optimal resource utilization, reducing inefficiencies and improving patient care. As technology evolves, continuous improvements and innovations will further enhance its capabilities, making it a vital tool for modern healthcare facilities.</a:t>
            </a:r>
          </a:p>
          <a:p>
            <a:pPr algn="just"/>
            <a:endParaRPr lang="en-IN" sz="2400" dirty="0"/>
          </a:p>
        </p:txBody>
      </p:sp>
    </p:spTree>
    <p:extLst>
      <p:ext uri="{BB962C8B-B14F-4D97-AF65-F5344CB8AC3E}">
        <p14:creationId xmlns:p14="http://schemas.microsoft.com/office/powerpoint/2010/main" val="3069122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BB11D-8F9D-FF59-EA3B-9B308E0E87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0906C9-F8E6-EFC1-4A9E-209B51228C18}"/>
              </a:ext>
            </a:extLst>
          </p:cNvPr>
          <p:cNvSpPr txBox="1"/>
          <p:nvPr/>
        </p:nvSpPr>
        <p:spPr>
          <a:xfrm>
            <a:off x="1475912" y="226722"/>
            <a:ext cx="8645852" cy="584775"/>
          </a:xfrm>
          <a:prstGeom prst="rect">
            <a:avLst/>
          </a:prstGeom>
          <a:noFill/>
        </p:spPr>
        <p:txBody>
          <a:bodyPr wrap="square">
            <a:spAutoFit/>
          </a:bodyPr>
          <a:lstStyle/>
          <a:p>
            <a:pPr algn="ctr">
              <a:defRPr/>
            </a:pPr>
            <a:r>
              <a:rPr lang="en-US" sz="3200" b="1" dirty="0">
                <a:solidFill>
                  <a:schemeClr val="accent1">
                    <a:lumMod val="75000"/>
                  </a:schemeClr>
                </a:solidFill>
                <a:latin typeface="Cambria" panose="02040503050406030204" pitchFamily="18" charset="0"/>
                <a:ea typeface="Cambria" panose="02040503050406030204" pitchFamily="18" charset="0"/>
              </a:rPr>
              <a:t>References </a:t>
            </a:r>
            <a:r>
              <a:rPr lang="en-US" sz="3200" dirty="0">
                <a:solidFill>
                  <a:schemeClr val="accent1">
                    <a:lumMod val="75000"/>
                  </a:schemeClr>
                </a:solidFill>
                <a:latin typeface="Cambria" panose="02040503050406030204" pitchFamily="18" charset="0"/>
                <a:ea typeface="Cambria" panose="02040503050406030204" pitchFamily="18" charset="0"/>
              </a:rPr>
              <a:t> </a:t>
            </a:r>
          </a:p>
        </p:txBody>
      </p:sp>
      <p:sp>
        <p:nvSpPr>
          <p:cNvPr id="4" name="TextBox 3">
            <a:extLst>
              <a:ext uri="{FF2B5EF4-FFF2-40B4-BE49-F238E27FC236}">
                <a16:creationId xmlns:a16="http://schemas.microsoft.com/office/drawing/2014/main" id="{64944D75-327F-3BB6-1E56-16472FDBFF0B}"/>
              </a:ext>
            </a:extLst>
          </p:cNvPr>
          <p:cNvSpPr txBox="1"/>
          <p:nvPr/>
        </p:nvSpPr>
        <p:spPr>
          <a:xfrm>
            <a:off x="707923" y="1723298"/>
            <a:ext cx="10304206" cy="3323987"/>
          </a:xfrm>
          <a:prstGeom prst="rect">
            <a:avLst/>
          </a:prstGeom>
          <a:noFill/>
        </p:spPr>
        <p:txBody>
          <a:bodyPr wrap="square">
            <a:spAutoFit/>
          </a:bodyPr>
          <a:lstStyle/>
          <a:p>
            <a:pPr marL="285750" indent="-285750" algn="just">
              <a:buFont typeface="Wingdings" panose="05000000000000000000" pitchFamily="2" charset="2"/>
              <a:buChar char="Ø"/>
            </a:pPr>
            <a:r>
              <a:rPr lang="en-IN" dirty="0"/>
              <a:t> </a:t>
            </a:r>
            <a:r>
              <a:rPr lang="en-IN" sz="2400" b="1" dirty="0"/>
              <a:t>Research Papers &amp; Journals</a:t>
            </a:r>
          </a:p>
          <a:p>
            <a:pPr algn="just"/>
            <a:endParaRPr lang="en-IN" sz="2400" dirty="0"/>
          </a:p>
          <a:p>
            <a:pPr lvl="0">
              <a:tabLst>
                <a:tab pos="457200" algn="l"/>
              </a:tabLst>
            </a:pPr>
            <a:r>
              <a:rPr lang="en-US" sz="1800" b="1" dirty="0">
                <a:effectLst/>
                <a:latin typeface="Times New Roman" panose="02020603050405020304" pitchFamily="18" charset="0"/>
                <a:ea typeface="Times New Roman" panose="02020603050405020304" pitchFamily="18" charset="0"/>
              </a:rPr>
              <a:t>1. OpenAI. (2024).  </a:t>
            </a:r>
            <a:r>
              <a:rPr lang="en-US" sz="1800" dirty="0">
                <a:effectLst/>
                <a:latin typeface="Times New Roman" panose="02020603050405020304" pitchFamily="18" charset="0"/>
                <a:ea typeface="Times New Roman" panose="02020603050405020304" pitchFamily="18" charset="0"/>
                <a:hlinkClick r:id="rId2"/>
              </a:rPr>
              <a:t>https://chatgpt.com/c/67a391b5-edac-800f-befb-47fbe3472055</a:t>
            </a:r>
            <a:br>
              <a:rPr lang="en-US"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p>
          <a:p>
            <a:pPr lvl="0">
              <a:tabLst>
                <a:tab pos="457200" algn="l"/>
              </a:tabLst>
            </a:pPr>
            <a:r>
              <a:rPr lang="en-US" sz="1800" b="1" dirty="0">
                <a:effectLst/>
                <a:latin typeface="Times New Roman" panose="02020603050405020304" pitchFamily="18" charset="0"/>
                <a:ea typeface="Times New Roman" panose="02020603050405020304" pitchFamily="18" charset="0"/>
              </a:rPr>
              <a:t>2. MongoDB Inc. (2024). MongoDB Documentation –  </a:t>
            </a:r>
            <a:r>
              <a:rPr lang="en-US" sz="1800" dirty="0">
                <a:effectLst/>
                <a:latin typeface="Times New Roman" panose="02020603050405020304" pitchFamily="18" charset="0"/>
                <a:ea typeface="Times New Roman" panose="02020603050405020304" pitchFamily="18" charset="0"/>
                <a:hlinkClick r:id="rId3"/>
              </a:rPr>
              <a:t>https://www.mongodb.com/docs/</a:t>
            </a:r>
            <a:r>
              <a:rPr lang="en-US" sz="1800" dirty="0">
                <a:effectLst/>
                <a:latin typeface="Times New Roman" panose="02020603050405020304" pitchFamily="18" charset="0"/>
                <a:ea typeface="Times New Roman" panose="02020603050405020304" pitchFamily="18" charset="0"/>
              </a:rPr>
              <a:t> </a:t>
            </a:r>
            <a:br>
              <a:rPr lang="en-US" sz="1800" dirty="0">
                <a:effectLst/>
                <a:latin typeface="Times New Roman" panose="02020603050405020304" pitchFamily="18" charset="0"/>
                <a:ea typeface="Times New Roman" panose="02020603050405020304" pitchFamily="18" charset="0"/>
              </a:rPr>
            </a:br>
            <a:endParaRPr lang="en-US" sz="1800" b="1" dirty="0">
              <a:effectLst/>
              <a:latin typeface="Times New Roman" panose="02020603050405020304" pitchFamily="18" charset="0"/>
              <a:ea typeface="Times New Roman" panose="02020603050405020304" pitchFamily="18" charset="0"/>
            </a:endParaRPr>
          </a:p>
          <a:p>
            <a:pPr lvl="0">
              <a:tabLst>
                <a:tab pos="457200" algn="l"/>
              </a:tabLst>
            </a:pPr>
            <a:r>
              <a:rPr lang="en-US" sz="1800" b="1" dirty="0">
                <a:effectLst/>
                <a:latin typeface="Times New Roman" panose="02020603050405020304" pitchFamily="18" charset="0"/>
                <a:ea typeface="Times New Roman" panose="02020603050405020304" pitchFamily="18" charset="0"/>
              </a:rPr>
              <a:t>3. Express.js. (2024). Express Framework Guide - </a:t>
            </a:r>
            <a:r>
              <a:rPr lang="en-US" sz="1800" dirty="0">
                <a:effectLst/>
                <a:latin typeface="Times New Roman" panose="02020603050405020304" pitchFamily="18" charset="0"/>
                <a:ea typeface="Times New Roman" panose="02020603050405020304" pitchFamily="18" charset="0"/>
                <a:hlinkClick r:id="rId4"/>
              </a:rPr>
              <a:t>https://expressjs.com/en/guide/routing.html</a:t>
            </a:r>
            <a:r>
              <a:rPr lang="en-US" sz="1800" dirty="0">
                <a:effectLst/>
                <a:latin typeface="Times New Roman" panose="02020603050405020304" pitchFamily="18" charset="0"/>
                <a:ea typeface="Times New Roman" panose="02020603050405020304" pitchFamily="18" charset="0"/>
              </a:rPr>
              <a:t> </a:t>
            </a:r>
          </a:p>
          <a:p>
            <a:pPr lvl="0">
              <a:tabLst>
                <a:tab pos="457200" algn="l"/>
              </a:tabLst>
            </a:pPr>
            <a:endParaRPr lang="en-US" sz="1800" dirty="0">
              <a:effectLst/>
              <a:latin typeface="Times New Roman" panose="02020603050405020304" pitchFamily="18" charset="0"/>
              <a:ea typeface="Times New Roman" panose="02020603050405020304" pitchFamily="18" charset="0"/>
            </a:endParaRPr>
          </a:p>
          <a:p>
            <a:pPr lvl="0">
              <a:tabLst>
                <a:tab pos="457200" algn="l"/>
              </a:tabLst>
            </a:pPr>
            <a:r>
              <a:rPr lang="en-US" sz="1800" b="1" dirty="0">
                <a:effectLst/>
                <a:latin typeface="Times New Roman" panose="02020603050405020304" pitchFamily="18" charset="0"/>
                <a:ea typeface="Times New Roman" panose="02020603050405020304" pitchFamily="18" charset="0"/>
              </a:rPr>
              <a:t>4. React.js. (2024). React Developer Documentation – </a:t>
            </a:r>
            <a:r>
              <a:rPr lang="en-US" sz="1800" dirty="0">
                <a:effectLst/>
                <a:latin typeface="Times New Roman" panose="02020603050405020304" pitchFamily="18" charset="0"/>
                <a:ea typeface="Times New Roman" panose="02020603050405020304" pitchFamily="18" charset="0"/>
                <a:hlinkClick r:id="rId5"/>
              </a:rPr>
              <a:t>https://react.dev/learn</a:t>
            </a:r>
            <a:r>
              <a:rPr lang="en-US" sz="1800" dirty="0">
                <a:effectLst/>
                <a:latin typeface="Times New Roman" panose="02020603050405020304" pitchFamily="18" charset="0"/>
                <a:ea typeface="Times New Roman" panose="02020603050405020304" pitchFamily="18" charset="0"/>
              </a:rPr>
              <a:t>   </a:t>
            </a:r>
          </a:p>
          <a:p>
            <a:pPr lvl="0">
              <a:tabLst>
                <a:tab pos="457200" algn="l"/>
              </a:tabLst>
            </a:pPr>
            <a:endParaRPr lang="en-US" sz="1800" dirty="0">
              <a:effectLst/>
              <a:latin typeface="Times New Roman" panose="02020603050405020304" pitchFamily="18" charset="0"/>
              <a:ea typeface="Times New Roman" panose="02020603050405020304" pitchFamily="18" charset="0"/>
            </a:endParaRPr>
          </a:p>
          <a:p>
            <a:pPr lvl="0">
              <a:tabLst>
                <a:tab pos="457200" algn="l"/>
              </a:tabLst>
            </a:pPr>
            <a:r>
              <a:rPr lang="en-US" sz="1800" b="1" dirty="0">
                <a:effectLst/>
                <a:latin typeface="Times New Roman" panose="02020603050405020304" pitchFamily="18" charset="0"/>
                <a:ea typeface="Times New Roman" panose="02020603050405020304" pitchFamily="18" charset="0"/>
              </a:rPr>
              <a:t>5. Node.js. (2024). Node.js Documentation – </a:t>
            </a:r>
            <a:r>
              <a:rPr lang="en-US" sz="1800" dirty="0">
                <a:effectLst/>
                <a:latin typeface="Times New Roman" panose="02020603050405020304" pitchFamily="18" charset="0"/>
                <a:ea typeface="Times New Roman" panose="02020603050405020304" pitchFamily="18" charset="0"/>
                <a:hlinkClick r:id="rId6"/>
              </a:rPr>
              <a:t>https://nodejs.org/docs/latest/api/</a:t>
            </a: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5796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5B5E5C-C9DD-6279-73EC-9B32CAE68BF5}"/>
              </a:ext>
            </a:extLst>
          </p:cNvPr>
          <p:cNvSpPr txBox="1"/>
          <p:nvPr/>
        </p:nvSpPr>
        <p:spPr>
          <a:xfrm>
            <a:off x="1291453" y="1559628"/>
            <a:ext cx="9142927" cy="584775"/>
          </a:xfrm>
          <a:prstGeom prst="rect">
            <a:avLst/>
          </a:prstGeom>
          <a:noFill/>
        </p:spPr>
        <p:txBody>
          <a:bodyPr wrap="square">
            <a:spAutoFit/>
          </a:bodyPr>
          <a:lstStyle/>
          <a:p>
            <a:pPr algn="ctr">
              <a:defRPr/>
            </a:pPr>
            <a:r>
              <a:rPr lang="en-US" sz="3200" dirty="0">
                <a:solidFill>
                  <a:schemeClr val="accent1">
                    <a:lumMod val="75000"/>
                  </a:schemeClr>
                </a:solidFill>
                <a:latin typeface="Cambria" panose="02040503050406030204" pitchFamily="18" charset="0"/>
                <a:ea typeface="Cambria" panose="02040503050406030204" pitchFamily="18" charset="0"/>
              </a:rPr>
              <a:t>Q&amp;A</a:t>
            </a:r>
          </a:p>
        </p:txBody>
      </p:sp>
      <p:pic>
        <p:nvPicPr>
          <p:cNvPr id="15362" name="Picture 2" descr="370+ Qna Stock Photos, Pictures &amp; Royalty-Free Images - iStock">
            <a:extLst>
              <a:ext uri="{FF2B5EF4-FFF2-40B4-BE49-F238E27FC236}">
                <a16:creationId xmlns:a16="http://schemas.microsoft.com/office/drawing/2014/main" id="{9547E520-1590-D8BE-205C-1386B8777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103" y="2689412"/>
            <a:ext cx="8692180" cy="3313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056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B8A150FCE95541A6E48575FBA4EB4D" ma:contentTypeVersion="5" ma:contentTypeDescription="Create a new document." ma:contentTypeScope="" ma:versionID="bbc616291fc1951f10a29b01335d5597">
  <xsd:schema xmlns:xsd="http://www.w3.org/2001/XMLSchema" xmlns:xs="http://www.w3.org/2001/XMLSchema" xmlns:p="http://schemas.microsoft.com/office/2006/metadata/properties" xmlns:ns2="ea9859a6-3590-44b1-8928-86e279804202" targetNamespace="http://schemas.microsoft.com/office/2006/metadata/properties" ma:root="true" ma:fieldsID="e600fbb90e39d466ad97bb2c70096c04" ns2:_="">
    <xsd:import namespace="ea9859a6-3590-44b1-8928-86e27980420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9859a6-3590-44b1-8928-86e2798042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A8AE1F-0783-4D79-A250-F3933C92314B}">
  <ds:schemaRefs>
    <ds:schemaRef ds:uri="http://schemas.microsoft.com/sharepoint/v3/contenttype/forms"/>
  </ds:schemaRefs>
</ds:datastoreItem>
</file>

<file path=customXml/itemProps2.xml><?xml version="1.0" encoding="utf-8"?>
<ds:datastoreItem xmlns:ds="http://schemas.openxmlformats.org/officeDocument/2006/customXml" ds:itemID="{0E6EF213-B1CF-4C3D-A6AF-BBC081E3785D}">
  <ds:schemaRefs>
    <ds:schemaRef ds:uri="http://schemas.microsoft.com/office/2006/documentManagement/types"/>
    <ds:schemaRef ds:uri="http://schemas.microsoft.com/office/2006/metadata/properties"/>
    <ds:schemaRef ds:uri="http://purl.org/dc/elements/1.1/"/>
    <ds:schemaRef ds:uri="ea9859a6-3590-44b1-8928-86e279804202"/>
    <ds:schemaRef ds:uri="http://www.w3.org/XML/1998/namespace"/>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A40781B0-7C67-4F37-9703-FFC91DDACEBC}">
  <ds:schemaRefs>
    <ds:schemaRef ds:uri="http://schemas.microsoft.com/office/2006/metadata/contentType"/>
    <ds:schemaRef ds:uri="http://schemas.microsoft.com/office/2006/metadata/properties/metaAttributes"/>
    <ds:schemaRef ds:uri="http://www.w3.org/2000/xmlns/"/>
    <ds:schemaRef ds:uri="http://www.w3.org/2001/XMLSchema"/>
    <ds:schemaRef ds:uri="ea9859a6-3590-44b1-8928-86e27980420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3113</TotalTime>
  <Words>859</Words>
  <Application>Microsoft Office PowerPoint</Application>
  <PresentationFormat>Widescreen</PresentationFormat>
  <Paragraphs>151</Paragraphs>
  <Slides>18</Slides>
  <Notes>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__fkGroteskNeue_598ab8</vt:lpstr>
      <vt:lpstr>Arial</vt:lpstr>
      <vt:lpstr>Calibri</vt:lpstr>
      <vt:lpstr>Cambria</vt:lpstr>
      <vt:lpstr>Courier New</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Architecture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Ishita Theba</dc:creator>
  <cp:lastModifiedBy>Parth Patel</cp:lastModifiedBy>
  <cp:revision>212</cp:revision>
  <dcterms:created xsi:type="dcterms:W3CDTF">2020-10-07T10:42:16Z</dcterms:created>
  <dcterms:modified xsi:type="dcterms:W3CDTF">2025-03-18T10:05:12Z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0x010100F3B8A150FCE95541A6E48575FBA4EB4D</vt:lpwstr>
  </property>
</Properties>
</file>